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2"/>
  </p:notesMasterIdLst>
  <p:sldIdLst>
    <p:sldId id="256" r:id="rId2"/>
    <p:sldId id="257" r:id="rId3"/>
    <p:sldId id="262" r:id="rId4"/>
    <p:sldId id="264" r:id="rId5"/>
    <p:sldId id="263" r:id="rId6"/>
    <p:sldId id="265" r:id="rId7"/>
    <p:sldId id="339" r:id="rId8"/>
    <p:sldId id="340" r:id="rId9"/>
    <p:sldId id="341" r:id="rId10"/>
    <p:sldId id="275" r:id="rId11"/>
    <p:sldId id="347" r:id="rId12"/>
    <p:sldId id="266" r:id="rId13"/>
    <p:sldId id="276" r:id="rId14"/>
    <p:sldId id="277" r:id="rId15"/>
    <p:sldId id="278" r:id="rId16"/>
    <p:sldId id="267" r:id="rId17"/>
    <p:sldId id="279" r:id="rId18"/>
    <p:sldId id="280" r:id="rId19"/>
    <p:sldId id="281" r:id="rId20"/>
    <p:sldId id="282" r:id="rId21"/>
    <p:sldId id="285" r:id="rId22"/>
    <p:sldId id="283" r:id="rId23"/>
    <p:sldId id="286" r:id="rId24"/>
    <p:sldId id="288" r:id="rId25"/>
    <p:sldId id="289" r:id="rId26"/>
    <p:sldId id="259" r:id="rId27"/>
    <p:sldId id="291" r:id="rId28"/>
    <p:sldId id="293" r:id="rId29"/>
    <p:sldId id="294" r:id="rId30"/>
    <p:sldId id="297" r:id="rId31"/>
    <p:sldId id="295" r:id="rId32"/>
    <p:sldId id="296" r:id="rId33"/>
    <p:sldId id="329" r:id="rId34"/>
    <p:sldId id="330" r:id="rId35"/>
    <p:sldId id="350" r:id="rId36"/>
    <p:sldId id="300" r:id="rId37"/>
    <p:sldId id="298" r:id="rId38"/>
    <p:sldId id="301" r:id="rId39"/>
    <p:sldId id="304" r:id="rId40"/>
    <p:sldId id="307" r:id="rId41"/>
    <p:sldId id="306" r:id="rId42"/>
    <p:sldId id="311" r:id="rId43"/>
    <p:sldId id="313" r:id="rId44"/>
    <p:sldId id="312" r:id="rId45"/>
    <p:sldId id="318" r:id="rId46"/>
    <p:sldId id="321" r:id="rId47"/>
    <p:sldId id="320" r:id="rId48"/>
    <p:sldId id="308" r:id="rId49"/>
    <p:sldId id="348" r:id="rId50"/>
    <p:sldId id="349" r:id="rId51"/>
    <p:sldId id="316" r:id="rId52"/>
    <p:sldId id="314" r:id="rId53"/>
    <p:sldId id="342" r:id="rId54"/>
    <p:sldId id="323" r:id="rId55"/>
    <p:sldId id="322" r:id="rId56"/>
    <p:sldId id="324" r:id="rId57"/>
    <p:sldId id="325" r:id="rId58"/>
    <p:sldId id="327" r:id="rId59"/>
    <p:sldId id="333" r:id="rId60"/>
    <p:sldId id="334" r:id="rId61"/>
    <p:sldId id="335" r:id="rId62"/>
    <p:sldId id="328" r:id="rId63"/>
    <p:sldId id="336" r:id="rId64"/>
    <p:sldId id="337" r:id="rId65"/>
    <p:sldId id="338" r:id="rId66"/>
    <p:sldId id="303" r:id="rId67"/>
    <p:sldId id="344" r:id="rId68"/>
    <p:sldId id="345" r:id="rId69"/>
    <p:sldId id="346" r:id="rId70"/>
    <p:sldId id="343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tiv" id="{4DB4B2AE-0781-4211-8010-CE9BD8A296F3}">
          <p14:sldIdLst>
            <p14:sldId id="256"/>
            <p14:sldId id="257"/>
            <p14:sldId id="262"/>
            <p14:sldId id="264"/>
            <p14:sldId id="263"/>
          </p14:sldIdLst>
        </p14:section>
        <p14:section name="Intro to Info" id="{623BFA21-3CB3-4A15-B89C-0E7E1A7B393A}">
          <p14:sldIdLst>
            <p14:sldId id="265"/>
            <p14:sldId id="339"/>
            <p14:sldId id="340"/>
            <p14:sldId id="341"/>
            <p14:sldId id="275"/>
            <p14:sldId id="347"/>
            <p14:sldId id="266"/>
            <p14:sldId id="276"/>
            <p14:sldId id="277"/>
            <p14:sldId id="278"/>
          </p14:sldIdLst>
        </p14:section>
        <p14:section name="RD and IB" id="{8F537657-1DC8-423C-9892-6CCAD5AF0B11}">
          <p14:sldIdLst>
            <p14:sldId id="267"/>
            <p14:sldId id="279"/>
            <p14:sldId id="280"/>
            <p14:sldId id="281"/>
            <p14:sldId id="282"/>
            <p14:sldId id="285"/>
            <p14:sldId id="283"/>
            <p14:sldId id="286"/>
            <p14:sldId id="288"/>
            <p14:sldId id="289"/>
            <p14:sldId id="259"/>
            <p14:sldId id="291"/>
            <p14:sldId id="293"/>
            <p14:sldId id="294"/>
            <p14:sldId id="297"/>
            <p14:sldId id="295"/>
            <p14:sldId id="296"/>
            <p14:sldId id="329"/>
            <p14:sldId id="330"/>
            <p14:sldId id="350"/>
          </p14:sldIdLst>
        </p14:section>
        <p14:section name="Computational" id="{CB2F2FCA-51CC-4D21-8A35-D9CAEFFBDC42}">
          <p14:sldIdLst>
            <p14:sldId id="300"/>
            <p14:sldId id="298"/>
            <p14:sldId id="301"/>
            <p14:sldId id="304"/>
            <p14:sldId id="307"/>
            <p14:sldId id="306"/>
          </p14:sldIdLst>
        </p14:section>
        <p14:section name="Multiple Agents" id="{79782607-50A3-45FA-9B30-793348AACA33}">
          <p14:sldIdLst>
            <p14:sldId id="311"/>
            <p14:sldId id="313"/>
            <p14:sldId id="312"/>
            <p14:sldId id="318"/>
            <p14:sldId id="321"/>
            <p14:sldId id="320"/>
            <p14:sldId id="308"/>
            <p14:sldId id="348"/>
            <p14:sldId id="349"/>
            <p14:sldId id="316"/>
            <p14:sldId id="314"/>
            <p14:sldId id="342"/>
            <p14:sldId id="323"/>
          </p14:sldIdLst>
        </p14:section>
        <p14:section name="Determinacy" id="{E5F88924-A3DD-4365-B45D-74DB5C01B13C}">
          <p14:sldIdLst>
            <p14:sldId id="322"/>
            <p14:sldId id="324"/>
            <p14:sldId id="325"/>
            <p14:sldId id="327"/>
            <p14:sldId id="333"/>
            <p14:sldId id="334"/>
            <p14:sldId id="335"/>
            <p14:sldId id="328"/>
            <p14:sldId id="336"/>
            <p14:sldId id="337"/>
            <p14:sldId id="338"/>
          </p14:sldIdLst>
        </p14:section>
        <p14:section name="Conclusion" id="{D309DEDF-BD65-437B-BE36-0AB3754E6DCA}">
          <p14:sldIdLst>
            <p14:sldId id="303"/>
            <p14:sldId id="344"/>
            <p14:sldId id="345"/>
            <p14:sldId id="346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35:39.12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0 137 24575,'74'3'0,"136"25"0,-100-11 0,136 18 0,-169-24 0,28 3 0,-76-11 0,-1 2 0,1 0 0,28 10 0,-30-7 0,0-1 0,0-2 0,47 4 0,-45-8 0,161-4 0,-86-14 0,-44 6 0,-10-1 0,12-1 0,-25 7 0,-1-1 0,70-25 0,9-2 0,8 1 0,-71 18 0,0 2 0,106-13 0,-143 27 0,-19 4 0,-28 5 0,-61 0 0,-1-4 0,-116-8 0,69 0 0,87-2 0,1-3 0,0-2 0,-71-20 0,119 27 0,-6-1 0,0-1 0,0-1 0,-19-10 0,22 10 0,0 1 0,-1 0 0,0 0 0,0 0 0,0 1 0,-15-2 0,10 4 0,0 1 0,0 0 0,0 1 0,0 1 0,0 0 0,1 1 0,-18 6 0,22-7 0,8-2 0,1 0 0,0 0 0,0 0 0,-1 0 0,1 0 0,0 0 0,-1 0 0,1 1 0,0-1 0,0 0 0,-1 0 0,1 0 0,0 0 0,0 0 0,-1 0 0,1 1 0,0-1 0,0 0 0,0 0 0,-1 0 0,1 0 0,0 1 0,0-1 0,0 0 0,0 0 0,-1 1 0,1-1 0,0 0 0,0 0 0,0 1 0,0-1 0,0 0 0,0 0 0,0 1 0,0-1 0,0 0 0,0 1 0,0-1 0,0 0 0,9 10 0,20 7 0,28 7 0,2-2 0,112 26 0,-6-2 0,-135-38 0,-1-1 0,49 4 0,-63-9 0,-2 1 0,-15 1 0,-27 3 0,-30-4 0,-1-4 0,0-1 0,-99-19 0,49 6 0,31 2 0,-98-29 0,107 22 0,-141-18 0,-183 8 0,350 29 0,44 0 0,0 1 0,-1 0 0,1 0 0,0 0 0,-1 0 0,1 0 0,0 0 0,-1 0 0,1 0 0,0 0 0,-1 0 0,1 0 0,0 0 0,0 0 0,-1 0 0,1 0 0,0 0 0,-1 0 0,1 0 0,0 0 0,-1 0 0,1 0 0,0 0 0,-1 1 0,1-1 0,0 0 0,0 0 0,-1 0 0,1 1 0,0-1 0,0 0 0,-1 0 0,1 1 0,0-1 0,0 0 0,0 0 0,0 1 0,-1-1 0,1 1 0,13 8 0,26 7 0,1-3 0,0-2 0,1-2 0,1-1 0,59 2 0,173-7 0,-176-5 0,-88 2 0,-1 1 0,1-1 0,0 2 0,0-1 0,-1 2 0,1-1 0,-1 1 0,1 0 0,-1 1 0,0 0 0,-1 1 0,1 0 0,-1 0 0,16 13 0,-24-18 0,1 1 0,-1-1 0,1 0 0,-1 1 0,1-1 0,-1 0 0,1 1 0,-1-1 0,0 1 0,1-1 0,-1 1 0,1-1 0,-1 1 0,0-1 0,0 1 0,1 0 0,-1-1 0,0 1 0,0-1 0,0 1 0,1 0 0,-1-1 0,0 1 0,0-1 0,0 1 0,0 0 0,0-1 0,0 1 0,-1 0 0,1-1 0,0 1 0,0-1 0,-1 2 0,0-1 0,0 0 0,0 1 0,-1-1 0,1 0 0,0 0 0,-1 0 0,1 0 0,-1-1 0,1 1 0,-1 0 0,1-1 0,-3 2 0,-53 9 0,55-11 0,-94 8 0,-120-6 0,19-1 0,159 5 0,22 2 0,16-8 0,0 1 0,0-1 0,0 0 0,-1 1 0,1-1 0,0 0 0,0 1 0,0-1 0,0 0 0,0 1 0,0-1 0,0 0 0,0 1 0,0-1 0,0 1 0,0-1 0,0 0 0,0 1 0,0-1 0,0 0 0,0 1 0,0-1 0,0 0 0,1 1 0,-1-1 0,0 0 0,0 1 0,0-1 0,1 0 0,-1 1 0,0-1 0,0 0 0,1 0 0,-1 1 0,0-1 0,1 0 0,-1 1 0,8 5 0,0-1 0,1 1 0,-1-1 0,1-1 0,0 0 0,0 0 0,13 4 0,72 14 0,21-4 0,-63-11 0,0 3 0,59 17 0,-77-16 0,36 12 0,-65-21 0,1 0 0,0 1 0,-1 0 0,0 0 0,0 1 0,0-1 0,0 1 0,8 9 0,-13-13 0,1 1 0,-1 0 0,1-1 0,0 1 0,-1 0 0,1 0 0,-1-1 0,1 1 0,-1 0 0,0 0 0,1 0 0,-1-1 0,0 1 0,0 0 0,0 0 0,1 0 0,-1 0 0,0 0 0,0 0 0,0 0 0,0-1 0,0 1 0,-1 0 0,1 0 0,0 0 0,0 0 0,-1 0 0,1 0 0,0-1 0,-1 1 0,1 0 0,-1 0 0,1 0 0,-1-1 0,1 1 0,-1 0 0,1-1 0,-1 1 0,0-1 0,0 1 0,1 0 0,-1-1 0,0 1 0,0-1 0,-1 1 0,-4 2 0,-1 0 0,0 0 0,0-1 0,-11 3 0,13-4 0,-37 7 0,-69 4 0,54-7 0,35 1 0,22-6 0,1 1 0,-1-1 0,0 1 0,0-1 0,0 0 0,0 1 0,0-1 0,1 0 0,-1 1 0,0-1 0,0 0 0,1 1 0,-1-1 0,0 0 0,1 0 0,-1 1 0,0-1 0,0 0 0,1 0 0,-1 0 0,0 0 0,1 1 0,-1-1 0,1 0 0,-1 0 0,0 0 0,1 0 0,-1 0 0,1 0 0,45 10 0,1-10 0,-28-1 0,0 2 0,23 2 0,-38-3 0,0 1 0,-1 0 0,1-1 0,-1 1 0,1 1 0,-1-1 0,1 0 0,-1 1 0,0 0 0,0 0 0,0 0 0,0 0 0,0 0 0,0 0 0,0 1 0,-1 0 0,4 3 0,-5-4 5,0 0-1,1 0 1,-1 0-1,0 0 0,0 1 1,-1-1-1,1 0 1,0 1-1,-1-1 1,1 0-1,-1 1 0,0-1 1,0 1-1,0-1 1,0 1-1,0-1 1,0 1-1,-1-1 1,1 1-1,-1-1 0,1 0 1,-1 1-1,0-1 1,0 0-1,0 0 1,-3 3-1,2-1-103,-1-1 0,1 0 0,-1 0 0,0 0 0,0-1 0,-1 1 0,1-1 0,0 0 0,-1 0 0,1 0 0,-1 0 0,0 0 0,0-1 0,-7 2 0,-12 2-6727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35:43.84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59 24575,'346'17'0,"-173"-10"0,-33-2 0,-106-1 0,0 2 0,39 11 0,-45-9 0,2-1 0,-1-1 0,41 1 0,-38-5 0,46 9 0,-45-5 0,44 2 0,63 5 0,-89-6 0,58 0 0,-75-8 0,60-12 0,-58 7 0,46-3 0,-30 5 0,66-13 0,-101 14 0,34-10 0,15-1 0,-23 6 0,-42 8 0,-1 0 0,0 0 0,0 0 0,0 0 0,0 0 0,1 0 0,-1 0 0,0 0 0,0 0 0,0-1 0,1 1 0,-1 0 0,0 0 0,0 0 0,0 0 0,0 0 0,1 0 0,-1 0 0,0 0 0,0-1 0,0 1 0,0 0 0,0 0 0,0 0 0,1 0 0,-1-1 0,0 1 0,0 0 0,0 0 0,0 0 0,0 0 0,0-1 0,0 1 0,0 0 0,0 0 0,0 0 0,0-1 0,0 1 0,0 0 0,0 0 0,0 0 0,0-1 0,0 1 0,0 0 0,0 0 0,0-1 0,-11-4 0,-20-1 0,31 6 0,-107-17 0,-13-2 0,-123-4 0,13 9 0,-60 0 0,265 13 0,18 0 0,0 0 0,0 1 0,1 0 0,-1 0 0,0 0 0,0 1 0,0 0 0,0 0 0,1 1 0,-8 2 0,13-3 0,1 0 0,-1-1 0,1 1 0,-1-1 0,1 1 0,0-1 0,-1 1 0,1 0 0,0-1 0,0 1 0,0 0 0,-1-1 0,1 1 0,0 0 0,0 0 0,0-1 0,0 1 0,0 0 0,0-1 0,0 1 0,0 0 0,1-1 0,-1 1 0,0 0 0,0-1 0,1 1 0,-1 0 0,0-1 0,0 1 0,1-1 0,-1 1 0,1 0 0,-1-1 0,1 1 0,-1-1 0,1 1 0,-1-1 0,1 0 0,-1 1 0,1-1 0,0 1 0,27 21 0,-27-21 0,51 35 0,1-3 0,70 33 0,-98-55 0,0-1 0,1-1 0,0-1 0,1-1 0,0-2 0,0 0 0,44 1 0,-134-13 0,0-2 0,-87-25 0,8 2 0,138 30 0,12 1 0,29-1 0,49 3 0,39 18 0,-93-13 0,-28-5 0,0 0 0,0 0 0,0 0 0,-1 1 0,1-1 0,0 1 0,-1 0 0,1 0 0,-1 0 0,1 0 0,-1 1 0,0-1 0,0 1 0,0 0 0,-1 0 0,1 0 0,-1 0 0,1 1 0,2 4 0,-4-5 0,-1-1 0,1 0 0,0 1 0,-1-1 0,0 0 0,1 1 0,-1-1 0,0 0 0,0 1 0,0-1 0,-1 1 0,1-1 0,-1 0 0,1 1 0,-1-1 0,0 0 0,0 0 0,0 1 0,0-1 0,0 0 0,0 0 0,-1 0 0,1 0 0,-1 0 0,1-1 0,-1 1 0,0 0 0,1-1 0,-1 1 0,0-1 0,0 0 0,0 1 0,0-1 0,-3 1 0,-6 4 0,-1 0 0,0-1 0,0 0 0,0-1 0,-1 0 0,-15 2 0,-78 5 0,77-9 0,26-2 0,0 1 0,0-1 0,0 1 0,0-1 0,0 1 0,1 0 0,-1 0 0,0 0 0,1 1 0,-1-1 0,1 1 0,-3 1 0,4-3 0,1 1 0,-1-1 0,1 1 0,0-1 0,-1 1 0,1-1 0,0 0 0,-1 1 0,1-1 0,0 1 0,0-1 0,0 1 0,-1 0 0,1-1 0,0 1 0,0-1 0,0 1 0,0-1 0,0 1 0,0-1 0,0 1 0,0-1 0,0 1 0,0 0 0,1 1 0,-1-1 0,1 0 0,0 0 0,0 0 0,-1 0 0,1 0 0,0 0 0,0 0 0,0 0 0,0 0 0,0 0 0,0-1 0,1 1 0,1 1 0,-2-2 0,1 1 0,-1 0 0,0-1 0,1 1 0,-1 0 0,0 0 0,0 0 0,0 0 0,0 0 0,0 0 0,0 0 0,0 0 0,1 3 0,-2-4 0,0 0 0,0 1 0,0-1 0,0 0 0,0 1 0,0-1 0,0 0 0,0 1 0,0-1 0,-1 0 0,1 1 0,0-1 0,0 0 0,0 0 0,-1 1 0,1-1 0,0 0 0,0 0 0,-1 1 0,1-1 0,0 0 0,0 0 0,-1 0 0,1 1 0,0-1 0,-1 0 0,1 0 0,0 0 0,-1 0 0,1 0 0,0 0 0,-1 0 0,1 0 0,-1 0 0,-5 1 0,-1 0 0,1 0 0,-1-1 0,-12-1 0,-28-5 0,25 2 0,1 1 0,-1 1 0,1 1 0,-1 1 0,-41 6 0,62-6 0,0 0 0,0 0 0,0 0 0,0 0 0,0 0 0,1 0 0,-1 1 0,0-1 0,0 0 0,0 1 0,1-1 0,-1 1 0,0-1 0,0 0 0,1 1 0,-1 0 0,0-1 0,1 1 0,-1-1 0,0 1 0,1 0 0,-1 0 0,1-1 0,0 1 0,-1 0 0,1 0 0,-1-1 0,1 1 0,0 0 0,0 0 0,-1 0 0,1 0 0,0 0 0,0-1 0,0 1 0,0 0 0,0 0 0,0 0 0,0 0 0,0 0 0,1-1 0,-1 1 0,0 0 0,0 0 0,1 1 0,1 1 0,0 0 0,0 0 0,0 0 0,0 0 0,0 0 0,1-1 0,-1 1 0,1-1 0,0 0 0,3 2 0,27 14 0,0-2 0,1-1 0,0-2 0,49 12 0,-47-18 0,-29-6 0,0 0 0,0 0 0,0 0 0,-1 1 0,1 0 0,0 0 0,-1 1 0,0-1 0,0 2 0,10 5 0,-16-9 0,0 0 0,1 1 0,-1-1 0,1 0 0,-1 0 0,0 1 0,0-1 0,1 0 0,-1 1 0,0-1 0,0 0 0,1 1 0,-1-1 0,0 1 0,0-1 0,0 0 0,1 1 0,-1-1 0,0 1 0,0-1 0,0 0 0,0 1 0,0-1 0,0 1 0,0-1 0,0 1 0,0-1 0,0 0 0,0 1 0,0-1 0,0 1 0,-1-1 0,1 1 0,-14 8 0,-23-2 0,0-7 0,24 0 0,35 7 0,-7-2-227,0-1-1,-1 2 1,1 0-1,-1 1 1,22 13-1,-18-8-6598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3:44:44.33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0 113 24575,'722'0'0,"-552"-14"0,-2 0 0,-45 15 0,-37 1 0,139-14 0,-87-1 0,213 8 0,-205 6 0,-117-3 0,-18-2 0,-11 4 0,0 0 0,0 0 0,0 0 0,0 0 0,0-1 0,0 1 0,0 0 0,0 0 0,0 0 0,0-1 0,0 1 0,0 0 0,0 0 0,-1 0 0,1 0 0,0-1 0,0 1 0,0 0 0,0 0 0,0 0 0,0 0 0,0-1 0,-1 1 0,1 0 0,0 0 0,0 0 0,0 0 0,0 0 0,0 0 0,-1 0 0,1 0 0,0-1 0,0 1 0,0 0 0,0 0 0,-1 0 0,1 0 0,0 0 0,0 0 0,0 0 0,-1 0 0,1 0 0,0 0 0,0 0 0,0 0 0,-1 0 0,-26-6 0,0 0 0,-51-4 0,33 5 0,-163-11 0,-263 12 0,238 7 0,-94-3 0,1289 0 0,-2022 0 0,1024 0 0,27 3 0,13 0 0,20 3 0,173 24 0,-50-8 0,227 22 0,-354-43 0,-8-1 0,0 1 0,-1 0 0,1 0 0,-1 1 0,21 6 0,-33-8 0,1 0 0,0 0 0,-1 0 0,1 0 0,0 0 0,-1 1 0,1-1 0,0 0 0,0 0 0,-1 0 0,1 0 0,0 0 0,0 1 0,-1-1 0,1 0 0,0 0 0,0 0 0,-1 1 0,1-1 0,0 0 0,0 0 0,0 1 0,0-1 0,-1 0 0,1 1 0,0-1 0,0 0 0,0 0 0,0 1 0,0-1 0,0 0 0,0 1 0,0-1 0,0 0 0,0 1 0,0-1 0,0 0 0,0 1 0,0-1 0,0 0 0,0 0 0,0 1 0,0-1 0,0 0 0,1 1 0,-1-1 0,0 0 0,0 0 0,0 1 0,0-1 0,1 0 0,-1 0 0,0 1 0,0-1 0,1 0 0,-1 0 0,0 0 0,0 0 0,1 1 0,-1-1 0,0 0 0,0 0 0,1 0 0,-1 0 0,0 0 0,1 0 0,0 0 0,-30 9 0,-65 4 0,-99 0 0,92-8 0,-265 12 0,1179-18 0,-791 0 0,-16 1 0,0-1 0,1 1 0,-1 0 0,0 1 0,0-1 0,0 1 0,11 4 0,-17-5 0,0 0 0,-1 0 0,1 0 0,0 0 0,0 0 0,0 0 0,0 0 0,0 0 0,0 0 0,-1 0 0,1 0 0,0 0 0,0 0 0,0 0 0,0 0 0,0 0 0,0 1 0,0-1 0,0 0 0,0 0 0,-1 0 0,1 0 0,0 0 0,0 0 0,0 0 0,0 1 0,0-1 0,0 0 0,0 0 0,0 0 0,0 0 0,0 0 0,0 0 0,0 1 0,0-1 0,0 0 0,0 0 0,0 0 0,0 0 0,0 0 0,0 0 0,0 1 0,0-1 0,0 0 0,0 0 0,0 0 0,0 0 0,0 0 0,1 0 0,-1 1 0,0-1 0,0 0 0,0 0 0,0 0 0,0 0 0,0 0 0,0 0 0,0 0 0,1 0 0,-1 0 0,0 0 0,-20 6 0,-1-1 0,1-1 0,-1-1 0,-25 1 0,10-1 0,-494 18 0,509-22 0,17 1 0,0-1 0,-1 1 0,1 0 0,0 0 0,-1 1 0,1-1 0,0 1 0,0 0 0,-7 2 0,11-3 0,0 0 0,-1 0 0,1 0 0,0 1 0,0-1 0,0 0 0,0 0 0,0 0 0,0 0 0,0 0 0,-1 0 0,1 0 0,0 1 0,0-1 0,0 0 0,0 0 0,0 0 0,0 0 0,0 0 0,0 1 0,0-1 0,0 0 0,0 0 0,0 0 0,0 0 0,0 1 0,0-1 0,0 0 0,0 0 0,0 0 0,0 0 0,0 0 0,0 1 0,0-1 0,0 0 0,0 0 0,1 0 0,-1 0 0,0 0 0,0 0 0,0 1 0,0-1 0,0 0 0,0 0 0,0 0 0,1 0 0,-1 0 0,0 0 0,0 0 0,0 0 0,0 0 0,0 0 0,0 0 0,1 0 0,-1 1 0,0-1 0,0 0 0,0 0 0,0 0 0,0 0 0,1 0 0,-1 0 0,0 0 0,0 0 0,0-1 0,0 1 0,1 0 0,20 8 0,1-2 0,0-1 0,0 0 0,0-2 0,37 2 0,-9-1 0,257 51 0,-301-54 0,0 1 0,0 0 0,0 0 0,-1 0 0,8 4 0,-13-6 0,1 0 0,-1 0 0,0 0 0,0 0 0,1 0 0,-1 1 0,0-1 0,0 0 0,1 0 0,-1 0 0,0 1 0,0-1 0,0 0 0,0 0 0,1 0 0,-1 1 0,0-1 0,0 0 0,0 1 0,0-1 0,0 0 0,0 0 0,0 1 0,0-1 0,0 0 0,0 0 0,0 1 0,0-1 0,0 0 0,0 1 0,0-1 0,0 0 0,0 0 0,0 1 0,0-1 0,0 0 0,0 1 0,0-1 0,-1 0 0,-21 11 0,-37 3 0,0-3 0,-67 3 0,86-10 0,-14 0 0,28-2 0,-46 8 0,59-4 0,23-1 0,25 1 0,25-1 0,74 17 0,-14 6 0,-116-26 0,-9-1 0,-20 1 0,-32 0 0,34 1 0,23-3 0,0 0 0,-1 0 0,1 0 0,0 0 0,0 0 0,0 0 0,0 1 0,-1-1 0,1 0 0,0 0 0,0 0 0,0 0 0,0 1 0,0-1 0,0 0 0,0 0 0,0 0 0,-1 1 0,1-1 0,0 0 0,0 0 0,0 0 0,0 1 0,0-1 0,0 0 0,0 0 0,0 0 0,0 1 0,0-1 0,0 0 0,0 0 0,0 0 0,1 1 0,-1-1 0,0 0 0,0 0 0,0 0 0,0 1 0,0-1 0,0 0 0,0 0 0,1 0 0,-1 0 0,0 1 0,0-1 0,4 3 0,-1-1 0,0 1 0,1-1 0,0 0 0,-1 0 0,1 0 0,8 2 0,110 32 0,-112-31-113,-9 0 150,-21 5 153,-34 1-1669,23-7-5347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3:44:48.00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24575,'261'11'0,"-55"5"0,239-13 0,-227-5 0,-62 0 0,173 5 0,-172 10 0,62 1 0,10-15 0,-1598 1 0,1791 0 0,-525 17 0,89-15 0,-54 6 0,0 3 0,-90 27 0,177-33 0,16-2 0,42-5 0,-46 0 0,1 1 0,0 2 0,40 6 0,-61-2 0,-20 0 0,-20 1 0,-183 18 0,114-14 0,140 2 0,185 25 0,-195-28 0,-24-1 0,-8-7 0,0 0 0,-1-1 0,1 1 0,0-1 0,0 1 0,-1-1 0,1 1 0,0-1 0,-1 1 0,1-1 0,-1 1 0,1-1 0,0 1 0,-1-1 0,1 0 0,-1 1 0,1-1 0,-1 0 0,0 1 0,1-1 0,-1 0 0,1 0 0,-2 1 0,-21 8 0,0-1 0,-1-1 0,0-1 0,-27 2 0,-19 6 0,42-8 0,0 2 0,1 0 0,0 2 0,-29 15 0,54-24 0,1-1 0,-1 1 0,1 0 0,0 0 0,-1 0 0,1 0 0,0 0 0,0 0 0,0 0 0,-1 0 0,1 0 0,0 1 0,-1 1 0,2-3 0,0 1 0,0-1 0,0 1 0,0-1 0,0 0 0,0 1 0,0-1 0,0 1 0,0-1 0,0 0 0,1 1 0,-1-1 0,0 0 0,0 1 0,0-1 0,0 0 0,1 1 0,-1-1 0,0 0 0,0 1 0,1-1 0,-1 0 0,0 0 0,1 1 0,-1-1 0,0 0 0,1 0 0,-1 1 0,0-1 0,1 0 0,-1 0 0,1 0 0,4 2 0,1 0 0,-1-1 0,0 0 0,1 0 0,10 1 0,219-4 0,-233 2 0,0 0 0,0 0 0,0 0 0,0 1 0,0-1 0,0 0 0,-1 1 0,1-1 0,0 1 0,0-1 0,0 1 0,0 0 0,-1 0 0,1 0 0,0 0 0,-1 0 0,1 0 0,2 3 0,-3-2 0,0 0 0,-1 0 0,1 0 0,-1 0 0,1 0 0,-1 0 0,0 0 0,0 0 0,0 0 0,0 0 0,0 1 0,0-1 0,0 0 0,-1 0 0,1 0 0,-2 3 0,1-2 0,1-1 0,-1 1 0,1-1 0,-1 1 0,1 0 0,0-1 0,0 1 0,0 0 0,0 0 0,1-1 0,-1 1 0,1-1 0,0 1 0,0 0 0,-1-1 0,2 1 0,-1-1 0,0 0 0,0 1 0,1-1 0,-1 0 0,1 0 0,0 0 0,0 0 0,2 2 0,4 2 0,0-1 0,0 0 0,0 0 0,1-1 0,14 5 0,-9-3 0,-14-6 0,1 0 0,-1 0 0,0 0 0,0 0 0,0 0 0,1 0 0,-1 0 0,0 0 0,0 0 0,0 0 0,0 0 0,1 0 0,-1 0 0,0 0 0,0 0 0,0 0 0,0 1 0,0-1 0,1 0 0,-1 0 0,0 0 0,0 0 0,0 0 0,0 0 0,0 1 0,0-1 0,0 0 0,1 0 0,-1 0 0,0 0 0,0 0 0,0 1 0,0-1 0,0 0 0,0 0 0,0 0 0,0 0 0,0 1 0,0-1 0,0 0 0,0 0 0,0 0 0,0 1 0,0-1 0,0 0 0,0 0 0,0 0 0,0 0 0,0 1 0,0-1 0,0 0 0,-1 0 0,-11 6 0,-24 1 0,34-7 0,-66 9-1365,38-6-5461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8:18:14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1 214 24575,'384'0'0,"-375"0"0,0 0 0,0-1 0,0 0 0,0 0 0,0-1 0,-1 0 0,17-7 0,-22 8 0,0-1 0,0 0 0,1 0 0,-1 0 0,-1 0 0,1 0 0,0-1 0,-1 1 0,1-1 0,-1 0 0,0 1 0,0-1 0,0 0 0,0-1 0,0 1 0,-1 0 0,1 0 0,-1-1 0,0 1 0,0-1 0,0 1 0,0-4 0,1-17-186,-1 0-1,-2-23 1,0 34-620,1-11-6020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8:18:16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66 103 24575,'0'-5'0,"-4"-1"0,-7 0 0,-1-4 0,1-4 0,3-5 0,-2-3 0,1 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F2264-48DB-43F0-938E-C34C3C14432C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63204-C5F5-4BC5-9960-3E935A1AB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28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Lukas Filde 1891 «The Doctor»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840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73C7-958D-A9FA-C992-72FD3E75A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CBF41-F54B-BEDC-1190-184809DC4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F7C22-7CA4-C41A-D7E9-00F366EF9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X 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BAD1C-8664-A6D6-060C-CE04D28D9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792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0252-2122-9845-5A48-D8664207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5047D-85B8-2756-C2F3-41E552F8A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7B6B9-F58C-4A38-EA3D-AFA68FEBB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Partitions like ‘swollen limph-node’, ‘39 degree fever’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773AA-C077-D43D-98D5-C30FD7F77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694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07F13-F78F-893C-DBBB-9A961448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5BC87-6FF6-D2D0-A419-1DE7C8137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E6262-AD2F-3CD6-3ADC-98AA85C69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 think for philosophy to be fruitful we need to consider the constraints that people face, and all the idiosyncracies that might appear.</a:t>
            </a:r>
          </a:p>
          <a:p>
            <a:r>
              <a:rPr lang="de-CH" dirty="0"/>
              <a:t>`what are the right constraints? The burden of justification shifts to the constraints. Reflective equilibrium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87E08-4922-3141-0619-5C05DD801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546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0F71-AFFF-5E08-6329-296F125E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10D1B-2F20-03C6-8BDA-A378AF84C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8288C-13F8-A7D7-C72B-A48AFAAD0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84AF2-4003-D946-5EC8-4133C3EF4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67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3A6E-7A50-8213-EC27-6B9B4779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537E6-CDAB-B95F-4D17-7A43820AA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0F525-3B7E-0875-68F0-B758A17CB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18674-E421-3330-6E3B-224C23339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518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BEEF-535E-CB1A-7468-0E147BEC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0AC3E-47F0-2500-E7DE-1D30B18B8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6A37C-928B-8195-2F80-8087404AC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11DA9-D030-97E8-7585-A6CD63E13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66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6910-C4C8-BB18-BF14-0C4DABF8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A4326-4626-4254-F158-FF4119AB4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68959-F214-A5E7-DF63-2BD2E082D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B4B5D-28E6-218F-13D7-2CC4ABBBF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509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47040-D2EE-280D-9B79-BFABD845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B58C6-D2E5-1081-A878-EB5E1DE21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28E57-F449-3618-D984-2FCB0A8F6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33982-B67E-EA6C-3B41-75571B912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943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BE5F-D67A-05B5-F097-40FD96DF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5C868-F59D-9136-946C-0E32775F3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CCFB1-03FC-1325-B711-59DBB2CAC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I(x_1) = 2bits, H(X) = 2 bits. X can also be a vector. Entropy bounded below by 0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E9436-7A75-5E1F-DCA6-B1673C8E1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187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BE90-C3E6-9ABA-609F-DF26F9A6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5D128-37CC-1D18-BE1E-BF0531BB1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A2425-D515-61F8-8C14-DC99DB5E8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C6C17-CEFB-FF92-C5AB-62DD4DEEF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489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ADD5-36C7-27E6-994C-61B8D4C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B6665-436E-05D2-B8BF-3D04DFFC5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DE16E-AC77-2A4C-F4A0-835D68121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Here we have a quantization.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77380-6052-1CA4-ED3D-EEE155069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380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DF98-0C66-0035-6C1E-F8E90045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EE779-5CAE-80BA-4FE4-AEEC8AA4A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708B9-9445-24B1-0409-4BF70982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How many bits do we need to reliably tell R given X? I(R;X) = 1 bit.  H(X) = 2bits, H(X|R) = 1 bit. Likewise, H(R) = 1 bit, H(R|X) = 0 bits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6D97C-FDA0-1E0B-8EB2-4A76E29C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932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8840-034A-9BDA-286C-558E6E6F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4400E-CCFE-9F4F-83C6-44A93A9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DB0D0-FC41-3D06-98FF-D9E5527D6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Fuzzy partitions decrease mutual information. Show in conditional matrix what this looks like</a:t>
            </a:r>
          </a:p>
          <a:p>
            <a:endParaRPr lang="de-CH" dirty="0"/>
          </a:p>
          <a:p>
            <a:endParaRPr lang="de-CH" dirty="0"/>
          </a:p>
          <a:p>
            <a:r>
              <a:rPr lang="de-CH" dirty="0"/>
              <a:t>But of course we don’t want to compress all the way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1A3D6-E6BF-F96F-58E3-3E803B355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547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Can we just minimize I(R;X) as much as we want??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78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00AF3-C157-43A2-129B-074F0493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9F7A8-E819-7665-81AC-50CC186FD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6EEC9-0CDA-433F-2ECD-C5D056E2D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F4BC1-9FE2-945F-99F9-94D93431E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533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725E-7705-7119-8C40-4A9A7BE3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B5DC7-2AAD-A87D-31DE-2A50BEEEE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35CF4-ABA2-49B0-D32E-328F6C152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5059B-72BE-03FC-5ECC-F00E1EF7B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009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1615-C569-A1C5-5F79-8FD94461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6515D-D610-A8DC-0359-09357286A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95FB4-E784-6B2D-EA21-0C11FF4C7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EEC32-16FB-BA64-28EF-CA3881515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187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661D-3FD5-A1EB-27B5-CFB723FE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90741-30C1-2C54-442F-D64CB63DB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8BDBB-3891-3FF1-CDCE-B4C5A8ADA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5A044-895D-8D5D-35BC-A9E0357D2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09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Explain lagrangian.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Solve via FOC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Is a local minimum a global minimum?</a:t>
            </a:r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479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Fixed p(x)!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506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548F-BFF4-3FC5-CF14-299FDC43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BD3F1-01CF-3968-4FF9-161E8E57E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5B406-89D1-DD75-0244-9DA6E942D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Fixed p(x)!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7BF96-4002-AE37-EBEA-FE9513ACA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413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1577-80AB-4F96-2ADF-361D487F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EB1B9-C984-3ADE-D3D7-7F3295A35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E2BE4-CD74-57EF-06DC-35AAAF194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Fixed p(x)! How did we get D?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20E4-2BC2-7648-BBDE-8A5C0A442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817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4947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/>
              <a:t>Symptoms, disease. Signal, optimal action. Not subsuming inference by utility. Example list here. Speech given, transcript wanted. Future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994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8034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4258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E378-20CA-964C-C330-B5C130FD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C9653-45D4-4899-53A9-75B15D735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54B99-87F8-66A7-3FA5-4C066D7E3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384F8-755E-693D-CFBE-658D83ECB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5117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1F6D-879F-4C34-0927-54F7962B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627E7-0127-01B0-5EE1-13791E4E1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8519E-87A9-B563-55D9-10F398DEF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FD27B-94B9-0532-F87C-C239312E1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4863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8EFE-ED33-477F-EE7A-34A0507A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6609F-6095-A8E6-3F93-25D6EDE3A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CB1FA-064A-CEBA-E3F7-F5C9C3F48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Beta interpretation.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DD909-293F-4AA7-E3B0-53297BD74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6588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227EB-8B47-0673-96A2-A9EF69035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2C28E-8AE7-C63F-5199-8F6F5115A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C29F7-C4B4-7ED2-19D1-363CE598C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540EE-621B-43D4-95ED-A34EACFE4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4542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E998F-429C-9D3B-B990-07461479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3CEC6-5966-77F1-93E1-DD43C28D2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6431E-B09E-B90C-2A54-0F6A3CB81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Non-convex</a:t>
            </a:r>
          </a:p>
          <a:p>
            <a:endParaRPr lang="en-GB" b="1" dirty="0"/>
          </a:p>
          <a:p>
            <a:r>
              <a:rPr lang="en-GB" b="1" dirty="0"/>
              <a:t>What this essentially says is you want the predictive conditional distribution to match the real conditional as closely as possible. 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first is your approximation, second is the target.</a:t>
            </a:r>
            <a:r>
              <a:rPr lang="en-GB" dirty="0"/>
              <a:t> Q tries to concentrate where P is large, potentially ignoring modes of P entirely. This is the direction used in variational inference — Q becomes mode-seeking.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7D808-8CDD-A163-00A9-A155B83B6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7980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72E8-2FDE-EB38-12BC-26E15A74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627F6-46E4-7374-12FE-C4ABE4560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7EE05-9D67-71C8-0831-5216E743C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We see this sort of thought from Dupre, from the stanford school, arguing for disunity in science. Ian hacking also member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6766C-594E-85A0-11B4-33065B21E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9717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061E-533B-D95D-8871-8DFA2AAB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51165-C977-B822-8D13-828FD2BA1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1C8C6-64C8-0E17-1B77-3AD2EEBB8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This is also how initial guesses are created via dirichlet vectors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567E2-2B4C-0AAC-28AE-6BAA05508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5616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13BF-AAC6-BD70-6CC6-92F2F6BB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087F6-2B4F-5294-02CB-CE2D34E70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644D3-F356-84AE-8C10-314C53A8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5863B-151B-82E3-05B6-B8947D735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1777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E3BE-F0D6-AE91-AFDD-21AE56D3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5A6BC-E6BE-E122-681C-412B15003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5DC7B-AB07-617D-60B0-37F38A9D6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IB curve is bounded by I(X;Y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5C0E-8570-44F7-553A-8BDC82669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3407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CDAB-D56F-18EC-8024-71196268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A3BAE-EE0B-8307-36B9-BEA1D92C6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78843-7656-EBA8-BDAF-F952ACEE8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Uninformative partition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12C62-B030-D833-C3A7-6FDDD502A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4763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9D7D1-DDF0-B22C-64B4-811A9EB1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75944-63E8-7B83-738F-0E187844D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1C8AB-529E-C20C-68F9-CDC94A77C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468D8-F4C7-17F1-DD02-22DA17169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90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3910-50A2-FAE8-381B-D5F4012C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A39DF-F4FB-F770-1873-6AE1A7389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56752-0125-01EE-C8C2-A57DBA19B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Now, I mentioned that this is a non-convex problem with many local optima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5E6E8-62FA-87D5-DA28-E97D10393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8561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4A0B-E270-1BCE-1AA0-9A180FCE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5AAFB-C142-93B9-8961-83F9D080B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D09DF-1CD4-E836-E78C-CFC522920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4449C-3F8C-A45A-D749-CEB72C604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8014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4BA0-F29F-3689-EE23-99A3D110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0C90C-7D09-C64D-D731-C468E32BC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557D7-6D3A-8634-84BC-C187B5669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F4336-74CC-3651-2D74-B6D3EB631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44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75F5D-0030-9D9C-EA04-0EF346CD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64918-8DF7-532A-AAF8-5146A4B81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BA80B-A411-086D-3AAE-C200EE68C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1147B-8D0E-E856-6601-D77A16B1F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7212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D8B39-4980-B8C3-5D0C-5B1AD12B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AEDE9-CC87-E12C-6F0D-AC23501C5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B1E86-2C4F-8695-0C7F-5C819FCCC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similarity of outputs is upper-bounded by the similarity of the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168B2-0457-85D3-F365-A0D16D77D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2253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3EC6-A372-80E0-5368-3676C136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E31E7-FEA9-C755-7D78-1ADDB0924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1A931-9521-8193-A7DD-5900A14BE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indeterminacy of reference in Word and Object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BE226-4E8E-B361-7CC7-7F5FD3C45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6017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93ACA-CB6E-0B3D-73F4-21F203CC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F734A-F147-E88C-1493-A40B36800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C6FC6-A657-B75A-F8EA-EE2897A79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more similar output, the more similar representations. Output similarity is bounded above by representational similarity, but representational similarity does not determine output similarity.</a:t>
            </a:r>
          </a:p>
          <a:p>
            <a:endParaRPr lang="en-GB" dirty="0"/>
          </a:p>
          <a:p>
            <a:r>
              <a:rPr lang="en-GB" dirty="0"/>
              <a:t>What does this look like in our simulations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5B198-AE3F-15F2-81A3-797EF1AFD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7090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3F54-BEA4-63C7-69C7-DF02BC91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0B402-B74A-AE1D-B117-F7AE40292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62760-F5CF-8D60-4484-5E57DFD11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Are all equally valid? Getting at the same thing?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E8A2D-C6A4-2582-89B1-682B04FD3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1127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88FB-B877-1C19-5E89-A38579AD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BF2D8-C651-27F8-43CC-C32D1A8CD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69A11-5A1C-3EEA-ADD5-71DFF89C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Are they getting at the same thing?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81619-ABCB-B130-DA25-4529FD01C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764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C644-2313-4A76-A074-68D68EE2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7B6A2-DD61-BFB3-6D82-11C55A31F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89807-A153-60E1-4E36-9E37CF61E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A726D-9E15-3C4B-2203-9C76B9650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9665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0DC6-850A-5834-E963-7EC564E9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65681-AFA2-7C69-1B83-86555D91A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13156-1A56-6DD1-1EF9-169C422B9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3EC3E-8431-5343-554E-4AFA99672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85978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7947-121D-E100-9AFB-51908A6B8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0F4B0-C655-69B6-016B-D9750304A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01B68-3273-D2E1-B2F0-8A5E24A2E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49F06-6987-A983-C717-59B8A9278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3701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0EEE-5359-3B2D-AF5C-6C45299E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05164-101C-A087-B3A3-A0E0B06DC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0C65F-91E0-B327-16D2-7C6427053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4884D-73F0-94C4-DFC5-56D769B84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705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7A0A-D4A3-0DC4-E7B2-88ED5A03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CB3C2-6141-4E8C-FB24-3AFA78ECD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6E445-2228-7326-8BAD-328CCF99A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For many pairwise comparison. Which way does the dependency go?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D3ABE-053C-94F6-3C43-EEE352FA5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0590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4E49-010B-1C9E-85CC-6D3E7CBD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5EFAB-A905-41E4-6B05-2ED45D64D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38D13-5828-0940-8E3F-66F0E292C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Which genre?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C6692-0526-D98E-98A6-147AE6BB8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6381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AC6E-6109-5DDE-777C-5A4324FA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8984F-1186-6D7F-6498-8BD616F88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AC39E-A24F-6FFA-3E5C-2BD18D903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Eubulides</a:t>
            </a:r>
            <a:r>
              <a:rPr lang="en-GB" dirty="0"/>
              <a:t> of Miletus contemporary of Aristotle.</a:t>
            </a:r>
            <a:br>
              <a:rPr lang="en-GB" dirty="0"/>
            </a:br>
            <a:r>
              <a:rPr lang="en-GB" dirty="0"/>
              <a:t>Cognitive psychologist Eleanor Rosch Berkeley. 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Whats</a:t>
            </a:r>
            <a:r>
              <a:rPr lang="en-GB" dirty="0"/>
              <a:t> at stake? Can we be rational and admit fuzzy partitions? Is Plato mislead?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B3F3F-9062-A89F-1466-71AB8E339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0074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C162A-212A-852B-A790-A17C39F0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7CEF8-6158-E0A9-93A5-10BF42EE0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7AB1E-01EF-2A4A-C9D9-00D5C992D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1F5A6-40B3-471A-79BD-BFA1DD0DF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3279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A360-4CCB-AE24-6D6B-DAF578DE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475C4-666B-9D38-3377-CA20D048E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691EE-3F26-6F75-23C1-517E266D2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A1FD0-3CC2-96F5-E73A-85265175C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8595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8406-3546-33F8-DF6C-E64B7DE7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795B3-11C7-4278-48BA-6222E9F10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D9DA1-8DA8-C7D1-2D11-47051B52C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94378-4C2F-286F-18FD-542DACB64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9463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E5EF-75E0-6D5E-07E2-7402DD48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9FC58-37FA-A299-61E2-61F994F4E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84228-0116-04DB-6259-262BF239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A3699-FBC3-DDCC-B22C-EBA04A6E7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6310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353C-EEA3-CC1E-3E41-903FE51B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76BA0-089F-5A40-DDB0-E5EFC3209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F766C-2A04-2141-7E14-3F4CF4C58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9B21D-78C5-F3DC-A726-DD91F2617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70284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6CE7-23FD-EA37-36AE-BCE81092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47103-8F26-0BA0-D540-1E253B4CD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5960A-4840-527D-3767-1E44393CB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25CA4-CA40-E919-B397-3171F0581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8866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1A98-09BB-AE6E-1FF4-522BDF7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2B6CB-4425-31A6-75A6-C7F61A845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2FDE1-678B-EB97-DCB7-D70B3BC44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perturb argument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C7A44-BB26-E094-1871-CF54C1524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96372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F421-1E9F-8AC9-7979-928013A4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A0003-465A-9257-76D9-58A0B7D64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91D26BC-1611-EA20-D59F-807E0E7C4D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At a soft assignment, we can perturb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in both directions along the simplex, so optimality requires the derivative of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  <m:d>
                      <m:dPr>
                        <m:sepChr m:val=";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</m:d>
                  </m:oMath>
                </a14:m>
                <a:r>
                  <a:rPr lang="en-GB" dirty="0"/>
                  <a:t>with respect to this perturbation to vanish. Computing this derivative yields the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∣</m:t>
                            </m:r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log</m:t>
                            </m:r>
                          </m:fName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ar-AE" sz="120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func>
                          <m:func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log</m:t>
                            </m:r>
                          </m:fName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ar-AE" sz="120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GB" dirty="0"/>
                  <a:t>otherwise we could strictly improve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  <m:d>
                      <m:dPr>
                        <m:sepChr m:val=";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</m:d>
                  </m:oMath>
                </a14:m>
                <a:r>
                  <a:rPr lang="en-GB" dirty="0"/>
                  <a:t>by hardening the assignment.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91D26BC-1611-EA20-D59F-807E0E7C4D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At a soft assignment, we can perturb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(𝑟∣𝑥)</a:t>
                </a:r>
                <a:r>
                  <a:rPr lang="en-GB" dirty="0"/>
                  <a:t>in both directions along the simplex, so optimality requires the derivative of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(𝑅ⓜ;𝑌)</a:t>
                </a:r>
                <a:r>
                  <a:rPr lang="en-GB" dirty="0"/>
                  <a:t>with respect to this perturbation to vanish. Computing this derivative yields the condition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𝔼_𝑝(𝑦∣𝑥)  [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⁡𝑝 (𝑦∣𝑟_1 )−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⁡𝑝 (𝑦∣𝑟_2 )]=0</a:t>
                </a:r>
                <a:r>
                  <a:rPr lang="ar-AE" dirty="0"/>
                  <a:t>, </a:t>
                </a:r>
                <a:r>
                  <a:rPr lang="en-GB" dirty="0"/>
                  <a:t>otherwise we could strictly improve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(𝑅ⓜ;𝑌)</a:t>
                </a:r>
                <a:r>
                  <a:rPr lang="en-GB" dirty="0"/>
                  <a:t>by hardening the assignment.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EA46F-7C6C-E064-DA1C-2CE15ED58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4265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E236E-F209-5F1B-1019-2EA9C68E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50E80-05F4-9CBC-83CF-ED328A030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A0AE2-53AA-1376-A036-AD86061F7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Case when |R| = 2, uniform, and p(y|x) = diagonal 1’s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047B8-E499-3006-23A5-23FF29391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3204-C5F5-4BC5-9960-3E935A1AB701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31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6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2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61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03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8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85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20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13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9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24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90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C3197A9-963F-4BF8-B79C-07A0E36EAF23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B693036-E4CE-4F1C-834C-4A097B6308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90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9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8.png"/><Relationship Id="rId7" Type="http://schemas.openxmlformats.org/officeDocument/2006/relationships/image" Target="../media/image23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0.png"/><Relationship Id="rId7" Type="http://schemas.openxmlformats.org/officeDocument/2006/relationships/image" Target="../media/image23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1.png"/><Relationship Id="rId7" Type="http://schemas.openxmlformats.org/officeDocument/2006/relationships/image" Target="../media/image23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10" Type="http://schemas.openxmlformats.org/officeDocument/2006/relationships/image" Target="../media/image3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4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5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0.png"/><Relationship Id="rId5" Type="http://schemas.openxmlformats.org/officeDocument/2006/relationships/image" Target="../media/image38.png"/><Relationship Id="rId10" Type="http://schemas.openxmlformats.org/officeDocument/2006/relationships/image" Target="../media/image26.png"/><Relationship Id="rId4" Type="http://schemas.openxmlformats.org/officeDocument/2006/relationships/image" Target="../media/image37.png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26.png"/><Relationship Id="rId4" Type="http://schemas.openxmlformats.org/officeDocument/2006/relationships/image" Target="../media/image37.png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73.png"/><Relationship Id="rId5" Type="http://schemas.openxmlformats.org/officeDocument/2006/relationships/image" Target="../media/image79.png"/><Relationship Id="rId10" Type="http://schemas.openxmlformats.org/officeDocument/2006/relationships/image" Target="../media/image1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5" Type="http://schemas.openxmlformats.org/officeDocument/2006/relationships/image" Target="../media/image700.png"/><Relationship Id="rId4" Type="http://schemas.openxmlformats.org/officeDocument/2006/relationships/image" Target="../media/image69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77.png"/><Relationship Id="rId5" Type="http://schemas.openxmlformats.org/officeDocument/2006/relationships/image" Target="../media/image700.png"/><Relationship Id="rId10" Type="http://schemas.openxmlformats.org/officeDocument/2006/relationships/image" Target="../media/image76.png"/><Relationship Id="rId4" Type="http://schemas.openxmlformats.org/officeDocument/2006/relationships/image" Target="../media/image690.png"/><Relationship Id="rId9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94.png"/><Relationship Id="rId4" Type="http://schemas.openxmlformats.org/officeDocument/2006/relationships/customXml" Target="../ink/ink3.xml"/><Relationship Id="rId9" Type="http://schemas.openxmlformats.org/officeDocument/2006/relationships/image" Target="../media/image9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00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01.png"/><Relationship Id="rId4" Type="http://schemas.openxmlformats.org/officeDocument/2006/relationships/customXml" Target="../ink/ink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F40E-38ED-A7CB-82ED-9FB96C047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Non-Convex Gavagai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E8D61-CB1E-27E9-1E3A-DF49EF1DF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sz="2800" dirty="0">
                <a:latin typeface="+mj-lt"/>
              </a:rPr>
              <a:t>Information Bottlenecks for Formal Epistemology</a:t>
            </a:r>
          </a:p>
          <a:p>
            <a:endParaRPr lang="de-CH" sz="2200" dirty="0">
              <a:latin typeface="+mj-lt"/>
            </a:endParaRPr>
          </a:p>
          <a:p>
            <a:r>
              <a:rPr lang="de-CH" sz="2200" dirty="0">
                <a:solidFill>
                  <a:srgbClr val="FF3300"/>
                </a:solidFill>
                <a:latin typeface="+mj-lt"/>
              </a:rPr>
              <a:t>Pittsburgh Formal Epistemology Workshop</a:t>
            </a:r>
          </a:p>
          <a:p>
            <a:r>
              <a:rPr lang="de-CH" sz="2200" dirty="0">
                <a:solidFill>
                  <a:srgbClr val="FF3300"/>
                </a:solidFill>
                <a:latin typeface="+mj-lt"/>
              </a:rPr>
              <a:t>Noé Kuhn | Carnegie Mellon University</a:t>
            </a:r>
            <a:endParaRPr lang="en-GB" sz="1900" dirty="0">
              <a:solidFill>
                <a:srgbClr val="FF3300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9008E-9274-8F98-F237-DD2BDA6B2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749" y="294481"/>
            <a:ext cx="2456501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2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CD48-F828-B014-33C7-3C16D75C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Motivation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680BF-BA08-54D4-66F9-8BF29A16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329" y="2015658"/>
            <a:ext cx="5433334" cy="398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0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DAE7-E9F3-0BB8-CFBA-D3824F56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4CD2-3FCF-1328-1F72-89B3659A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Motivation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8C386-8FCC-27C5-D875-142BB3761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329" y="2015658"/>
            <a:ext cx="5433334" cy="39848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F02530A-2F5D-D18A-2F77-E0E788BD1B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08024" y="2013976"/>
                <a:ext cx="2231924" cy="274796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CH" b="0" i="1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CH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F02530A-2F5D-D18A-2F77-E0E788BD1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08024" y="2013976"/>
                <a:ext cx="2231924" cy="2747962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93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9A4E-3E9B-C146-C8C6-EF60C1CA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8C0C-AD38-C26B-06F7-8B08B37C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Motivation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6D009-A1AF-146F-C6BF-2951CF62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329" y="2015658"/>
            <a:ext cx="5433334" cy="39848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21BDFFA-1838-67F0-C082-89FD599EF7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08023" y="2013976"/>
                <a:ext cx="2566221" cy="274796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CH" dirty="0">
                    <a:latin typeface="Cambria Math" panose="02040503050406030204" pitchFamily="18" charset="0"/>
                  </a:rPr>
                  <a:t>How do we compress X?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21BDFFA-1838-67F0-C082-89FD599EF7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08023" y="2013976"/>
                <a:ext cx="2566221" cy="2747962"/>
              </a:xfrm>
              <a:blipFill>
                <a:blip r:embed="rId4"/>
                <a:stretch>
                  <a:fillRect l="-47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7F3C-3999-AE03-0C52-91D44DE1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1E64-D5D3-12CE-762C-7C4099B1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Motivation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61FC1-197D-BC38-9B08-F3A35EA8D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818" y="2015658"/>
            <a:ext cx="5433334" cy="39848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209F-FA05-7DDE-F7BB-0FD1D53F2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8023" y="2013976"/>
            <a:ext cx="2566221" cy="2747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A brief plea for naturalism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76371-F3AB-D19D-E920-F85D3804D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215" y="2896418"/>
            <a:ext cx="1534250" cy="222336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0878F0-2B85-C32D-49F4-D167C981E8F9}"/>
              </a:ext>
            </a:extLst>
          </p:cNvPr>
          <p:cNvSpPr txBox="1">
            <a:spLocks/>
          </p:cNvSpPr>
          <p:nvPr/>
        </p:nvSpPr>
        <p:spPr>
          <a:xfrm>
            <a:off x="7551175" y="5607667"/>
            <a:ext cx="4552333" cy="973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dirty="0">
                <a:latin typeface="Cambria Math" panose="02040503050406030204" pitchFamily="18" charset="0"/>
              </a:rPr>
              <a:t>Substantive           Procedural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E415FD1-858A-A50A-749E-9A80837D540C}"/>
              </a:ext>
            </a:extLst>
          </p:cNvPr>
          <p:cNvSpPr/>
          <p:nvPr/>
        </p:nvSpPr>
        <p:spPr>
          <a:xfrm>
            <a:off x="9507792" y="5780887"/>
            <a:ext cx="639097" cy="21303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B494A1-4E19-604A-D86B-3F370E1174CE}"/>
              </a:ext>
            </a:extLst>
          </p:cNvPr>
          <p:cNvSpPr txBox="1">
            <a:spLocks/>
          </p:cNvSpPr>
          <p:nvPr/>
        </p:nvSpPr>
        <p:spPr>
          <a:xfrm>
            <a:off x="8908023" y="5228644"/>
            <a:ext cx="1971367" cy="55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dirty="0">
                <a:latin typeface="Cambria Math" panose="02040503050406030204" pitchFamily="18" charset="0"/>
              </a:rPr>
              <a:t>Rationality</a:t>
            </a:r>
          </a:p>
        </p:txBody>
      </p:sp>
    </p:spTree>
    <p:extLst>
      <p:ext uri="{BB962C8B-B14F-4D97-AF65-F5344CB8AC3E}">
        <p14:creationId xmlns:p14="http://schemas.microsoft.com/office/powerpoint/2010/main" val="317786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4F50-906D-CB7F-F2BE-D6B2F20E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03F6-4294-D934-1C6D-C837DC31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Guiding Questions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374AC8-F273-F7D9-9896-B51FA3F842D9}"/>
              </a:ext>
            </a:extLst>
          </p:cNvPr>
          <p:cNvSpPr/>
          <p:nvPr/>
        </p:nvSpPr>
        <p:spPr>
          <a:xfrm>
            <a:off x="838200" y="2261419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8157A7-45E0-2A82-B8A3-1DEB8159F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981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6EFE56-AB4C-E109-FD31-086BA886560E}"/>
              </a:ext>
            </a:extLst>
          </p:cNvPr>
          <p:cNvSpPr txBox="1">
            <a:spLocks/>
          </p:cNvSpPr>
          <p:nvPr/>
        </p:nvSpPr>
        <p:spPr>
          <a:xfrm>
            <a:off x="6400800" y="1828800"/>
            <a:ext cx="5515897" cy="3441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</p:txBody>
      </p:sp>
    </p:spTree>
    <p:extLst>
      <p:ext uri="{BB962C8B-B14F-4D97-AF65-F5344CB8AC3E}">
        <p14:creationId xmlns:p14="http://schemas.microsoft.com/office/powerpoint/2010/main" val="69136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0B3C-F24E-FF8A-9F02-FB367FB7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B24F-1C38-3BA4-B872-5A9032D2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Guiding Questions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D79FC6-E942-ED47-AF91-65EF9A7A54CC}"/>
              </a:ext>
            </a:extLst>
          </p:cNvPr>
          <p:cNvSpPr/>
          <p:nvPr/>
        </p:nvSpPr>
        <p:spPr>
          <a:xfrm>
            <a:off x="838200" y="2261419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2FCC93-3580-ABC7-CBDC-B6209510F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981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6E0BF5-1BF8-D67C-54D5-D0E8E9C8C05C}"/>
              </a:ext>
            </a:extLst>
          </p:cNvPr>
          <p:cNvSpPr txBox="1">
            <a:spLocks/>
          </p:cNvSpPr>
          <p:nvPr/>
        </p:nvSpPr>
        <p:spPr>
          <a:xfrm>
            <a:off x="6400800" y="1828800"/>
            <a:ext cx="5515897" cy="3441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Could there be different principled partitions?</a:t>
            </a:r>
          </a:p>
        </p:txBody>
      </p:sp>
    </p:spTree>
    <p:extLst>
      <p:ext uri="{BB962C8B-B14F-4D97-AF65-F5344CB8AC3E}">
        <p14:creationId xmlns:p14="http://schemas.microsoft.com/office/powerpoint/2010/main" val="286015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63FB1-BA6B-ED31-CCA8-875C4398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F124-4FFA-DE3D-195B-DB8B9AD7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Guiding Questions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6DEA5-E6BC-16D1-0DB7-0590CA9859EB}"/>
              </a:ext>
            </a:extLst>
          </p:cNvPr>
          <p:cNvSpPr/>
          <p:nvPr/>
        </p:nvSpPr>
        <p:spPr>
          <a:xfrm>
            <a:off x="838200" y="2261419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04D1B9-03EE-C359-3037-DC9E46732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981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D7CC43-DCAC-320B-1AB8-F22D0374B857}"/>
              </a:ext>
            </a:extLst>
          </p:cNvPr>
          <p:cNvSpPr txBox="1">
            <a:spLocks/>
          </p:cNvSpPr>
          <p:nvPr/>
        </p:nvSpPr>
        <p:spPr>
          <a:xfrm>
            <a:off x="5830530" y="1828800"/>
            <a:ext cx="6086168" cy="3441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Could there be different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- Do different principled partitions «just say the same thing in different ways?»</a:t>
            </a:r>
          </a:p>
        </p:txBody>
      </p:sp>
    </p:spTree>
    <p:extLst>
      <p:ext uri="{BB962C8B-B14F-4D97-AF65-F5344CB8AC3E}">
        <p14:creationId xmlns:p14="http://schemas.microsoft.com/office/powerpoint/2010/main" val="313350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DD5D-9264-2AFA-5016-EB5641AB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16D8-468D-63D9-3335-A001A977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Guiding Questions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5761F-DB11-A572-42E4-BD86A87AAFDC}"/>
              </a:ext>
            </a:extLst>
          </p:cNvPr>
          <p:cNvSpPr/>
          <p:nvPr/>
        </p:nvSpPr>
        <p:spPr>
          <a:xfrm>
            <a:off x="838200" y="2261419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2013E1-B32A-E13B-2D48-2968051BC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981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63AC61-D396-36C9-E236-C3006DA25FF8}"/>
              </a:ext>
            </a:extLst>
          </p:cNvPr>
          <p:cNvSpPr txBox="1">
            <a:spLocks/>
          </p:cNvSpPr>
          <p:nvPr/>
        </p:nvSpPr>
        <p:spPr>
          <a:xfrm>
            <a:off x="6017342" y="1828800"/>
            <a:ext cx="5899355" cy="3441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Could there be different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- Do different principled partitions «just say the same thing in different ways?»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Are principled partitions hard or soft?</a:t>
            </a:r>
          </a:p>
        </p:txBody>
      </p:sp>
    </p:spTree>
    <p:extLst>
      <p:ext uri="{BB962C8B-B14F-4D97-AF65-F5344CB8AC3E}">
        <p14:creationId xmlns:p14="http://schemas.microsoft.com/office/powerpoint/2010/main" val="1529643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3B8E-2D48-66C8-E6F9-E43068CD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4958-626D-BD86-5866-11031B7F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Information Theory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142694-8AC2-8E44-1D55-4406E36D75BC}"/>
              </a:ext>
            </a:extLst>
          </p:cNvPr>
          <p:cNvSpPr/>
          <p:nvPr/>
        </p:nvSpPr>
        <p:spPr>
          <a:xfrm>
            <a:off x="838200" y="2261419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FDEEEB-282B-7F4A-60D7-C1459588A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981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41A237-9158-870D-641C-810C45CCC9A1}"/>
                  </a:ext>
                </a:extLst>
              </p:cNvPr>
              <p:cNvSpPr/>
              <p:nvPr/>
            </p:nvSpPr>
            <p:spPr>
              <a:xfrm>
                <a:off x="838200" y="2261419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41A237-9158-870D-641C-810C45CCC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1419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D7B2E7-8AF0-D7A9-B7F3-57302B62D693}"/>
                  </a:ext>
                </a:extLst>
              </p:cNvPr>
              <p:cNvSpPr/>
              <p:nvPr/>
            </p:nvSpPr>
            <p:spPr>
              <a:xfrm>
                <a:off x="3202858" y="2261419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D7B2E7-8AF0-D7A9-B7F3-57302B62D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8" y="2261419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42C01D-B15E-47AC-982E-7EC9E391EB0F}"/>
                  </a:ext>
                </a:extLst>
              </p:cNvPr>
              <p:cNvSpPr/>
              <p:nvPr/>
            </p:nvSpPr>
            <p:spPr>
              <a:xfrm>
                <a:off x="3202857" y="4080387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42C01D-B15E-47AC-982E-7EC9E391E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7" y="4080387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AEBB9B4-BF0C-598E-8FF4-4DEDF2080671}"/>
                  </a:ext>
                </a:extLst>
              </p:cNvPr>
              <p:cNvSpPr/>
              <p:nvPr/>
            </p:nvSpPr>
            <p:spPr>
              <a:xfrm>
                <a:off x="838198" y="408776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AEBB9B4-BF0C-598E-8FF4-4DEDF2080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087761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AB4E0A5-0D6B-7739-5DF0-6984A2A16F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𝑢𝑛𝑖𝑓𝑜𝑟𝑚</m:t>
                      </m:r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AB4E0A5-0D6B-7739-5DF0-6984A2A16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60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4CA9-B548-BBED-D00B-9C4B59D4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CAA7-D73D-64B0-0A6E-EA2C1779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Information Theory*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1E3B4-0F91-B435-E536-8D81DECC1216}"/>
              </a:ext>
            </a:extLst>
          </p:cNvPr>
          <p:cNvSpPr/>
          <p:nvPr/>
        </p:nvSpPr>
        <p:spPr>
          <a:xfrm>
            <a:off x="838200" y="2261419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45FEE1-5D8C-DB48-0ABF-936ECF37A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981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5CA7CF6-D9E2-9A67-F3A9-958611E17B93}"/>
                  </a:ext>
                </a:extLst>
              </p:cNvPr>
              <p:cNvSpPr/>
              <p:nvPr/>
            </p:nvSpPr>
            <p:spPr>
              <a:xfrm>
                <a:off x="838200" y="2261419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41A237-9158-870D-641C-810C45CCC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1419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8D7BD7A-5A24-75C3-98A5-36CF7B4B97B5}"/>
                  </a:ext>
                </a:extLst>
              </p:cNvPr>
              <p:cNvSpPr/>
              <p:nvPr/>
            </p:nvSpPr>
            <p:spPr>
              <a:xfrm>
                <a:off x="3202858" y="2261419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D7B2E7-8AF0-D7A9-B7F3-57302B62D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8" y="2261419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3B9CEF-A58D-9086-2691-4BB5AEE9127A}"/>
                  </a:ext>
                </a:extLst>
              </p:cNvPr>
              <p:cNvSpPr/>
              <p:nvPr/>
            </p:nvSpPr>
            <p:spPr>
              <a:xfrm>
                <a:off x="3202857" y="4080387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42C01D-B15E-47AC-982E-7EC9E391E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7" y="4080387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9B57575-40D0-FADC-B53F-9929A3582B68}"/>
                  </a:ext>
                </a:extLst>
              </p:cNvPr>
              <p:cNvSpPr/>
              <p:nvPr/>
            </p:nvSpPr>
            <p:spPr>
              <a:xfrm>
                <a:off x="838198" y="408776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AEBB9B4-BF0C-598E-8FF4-4DEDF2080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087761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848D887-55F7-2206-DAEC-F3304DA88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𝑢𝑛𝑖𝑓𝑜𝑟𝑚</m:t>
                      </m:r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de-CH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CH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CH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848D887-55F7-2206-DAEC-F3304DA88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B57B616-499E-42AD-FBE6-940818036AD1}"/>
              </a:ext>
            </a:extLst>
          </p:cNvPr>
          <p:cNvSpPr txBox="1"/>
          <p:nvPr/>
        </p:nvSpPr>
        <p:spPr>
          <a:xfrm>
            <a:off x="8229602" y="6273225"/>
            <a:ext cx="4129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*Shannon (1948): </a:t>
            </a:r>
            <a:r>
              <a:rPr lang="en-GB" sz="1600" dirty="0"/>
              <a:t>“</a:t>
            </a:r>
            <a:r>
              <a:rPr lang="en-GB" sz="1600" dirty="0">
                <a:latin typeface="+mj-lt"/>
              </a:rPr>
              <a:t>A Mathematical Theory of Communication" </a:t>
            </a:r>
          </a:p>
        </p:txBody>
      </p:sp>
    </p:spTree>
    <p:extLst>
      <p:ext uri="{BB962C8B-B14F-4D97-AF65-F5344CB8AC3E}">
        <p14:creationId xmlns:p14="http://schemas.microsoft.com/office/powerpoint/2010/main" val="195880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A5A8-A6A4-B830-773A-F99D4C286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B8F4-0886-7A94-3999-4A8DC6AE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Information Theoretic Constraints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202BE-DDD3-8E23-98E2-84E92E7E26C1}"/>
              </a:ext>
            </a:extLst>
          </p:cNvPr>
          <p:cNvSpPr/>
          <p:nvPr/>
        </p:nvSpPr>
        <p:spPr>
          <a:xfrm>
            <a:off x="838200" y="2212614"/>
            <a:ext cx="4714875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A3CCC-1DBA-233B-6BD8-D526DA451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176"/>
            <a:ext cx="1091383" cy="86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2A2A8-C53E-22CC-2EFD-1578BB35AD70}"/>
              </a:ext>
            </a:extLst>
          </p:cNvPr>
          <p:cNvSpPr/>
          <p:nvPr/>
        </p:nvSpPr>
        <p:spPr>
          <a:xfrm>
            <a:off x="83820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A4BEB5-103B-D162-0525-8D202C139CBF}"/>
              </a:ext>
            </a:extLst>
          </p:cNvPr>
          <p:cNvSpPr/>
          <p:nvPr/>
        </p:nvSpPr>
        <p:spPr>
          <a:xfrm>
            <a:off x="318811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CC3859-56EF-EA7B-0D7E-585D4109B9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CC3859-56EF-EA7B-0D7E-585D4109B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C5A3191-1DF0-B778-436B-D683B1A6A9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C5A3191-1DF0-B778-436B-D683B1A6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F114BC0-5B6C-3850-0B07-15494B2BF0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𝑢𝑛𝑖𝑓𝑜𝑟𝑚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i="1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 &lt; |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F114BC0-5B6C-3850-0B07-15494B2BF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5C1169B2-C4C1-BD5B-B887-4B133FDD72A9}"/>
              </a:ext>
            </a:extLst>
          </p:cNvPr>
          <p:cNvSpPr/>
          <p:nvPr/>
        </p:nvSpPr>
        <p:spPr>
          <a:xfrm>
            <a:off x="838200" y="4011559"/>
            <a:ext cx="233485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3DC14D-521E-B83D-8D1B-BF0FD8982EF0}"/>
              </a:ext>
            </a:extLst>
          </p:cNvPr>
          <p:cNvSpPr/>
          <p:nvPr/>
        </p:nvSpPr>
        <p:spPr>
          <a:xfrm>
            <a:off x="3203165" y="4011559"/>
            <a:ext cx="23198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521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D325-A7A0-4D5D-D356-03E014C0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BB34A-39CA-4756-AE32-20A20D2F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Information Theoretic Constraints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19459FD-D649-DACB-93E8-682FA2E0A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𝑢𝑛𝑖𝑓𝑜𝑟𝑚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i="1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	Codebook : </a:t>
                </a:r>
                <a14:m>
                  <m:oMath xmlns:m="http://schemas.openxmlformats.org/officeDocument/2006/math">
                    <m:r>
                      <a:rPr lang="de-CH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19459FD-D649-DACB-93E8-682FA2E0A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828800"/>
                <a:ext cx="5515897" cy="3441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920886A-5814-2AF5-1F29-5D83FF53B91C}"/>
              </a:ext>
            </a:extLst>
          </p:cNvPr>
          <p:cNvSpPr/>
          <p:nvPr/>
        </p:nvSpPr>
        <p:spPr>
          <a:xfrm>
            <a:off x="838200" y="2212614"/>
            <a:ext cx="4714875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9A38FCE-061D-D3C0-2A3D-5511780B44C9}"/>
              </a:ext>
            </a:extLst>
          </p:cNvPr>
          <p:cNvSpPr txBox="1">
            <a:spLocks/>
          </p:cNvSpPr>
          <p:nvPr/>
        </p:nvSpPr>
        <p:spPr>
          <a:xfrm>
            <a:off x="838200" y="1779176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8CCC97-B9B9-B0C1-3296-8891ABD872D3}"/>
              </a:ext>
            </a:extLst>
          </p:cNvPr>
          <p:cNvSpPr/>
          <p:nvPr/>
        </p:nvSpPr>
        <p:spPr>
          <a:xfrm>
            <a:off x="83820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95FF4D-2ACC-ABFF-AE7C-48ED5A2CEAEE}"/>
              </a:ext>
            </a:extLst>
          </p:cNvPr>
          <p:cNvSpPr/>
          <p:nvPr/>
        </p:nvSpPr>
        <p:spPr>
          <a:xfrm>
            <a:off x="318811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B9D44B19-78A9-CD1F-C201-93371429ED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B9D44B19-78A9-CD1F-C201-93371429E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582FB1D-F93D-213E-1BAB-5CF976D3E6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582FB1D-F93D-213E-1BAB-5CF976D3E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7608C02-5ED8-37A6-F2CC-C1654A4DB3E9}"/>
              </a:ext>
            </a:extLst>
          </p:cNvPr>
          <p:cNvSpPr/>
          <p:nvPr/>
        </p:nvSpPr>
        <p:spPr>
          <a:xfrm>
            <a:off x="838200" y="4011559"/>
            <a:ext cx="233485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59E8CE-6D03-42AE-224B-4607A8A0612A}"/>
              </a:ext>
            </a:extLst>
          </p:cNvPr>
          <p:cNvSpPr/>
          <p:nvPr/>
        </p:nvSpPr>
        <p:spPr>
          <a:xfrm>
            <a:off x="3203165" y="4011559"/>
            <a:ext cx="23198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80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5A71-4533-6C24-3780-40986E7E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2A4C-854D-70E1-0070-EFF553DA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Information Theoretic Constraints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57A78F3-8C61-CFE8-EFFA-87DCA3EBD0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2320" y="1828800"/>
                <a:ext cx="6197600" cy="3441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𝑢𝑛𝑖𝑓𝑜𝑟𝑚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i="1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de-CH" b="0" dirty="0">
                    <a:latin typeface="+mj-lt"/>
                  </a:rPr>
                  <a:t>Codebook : </a:t>
                </a:r>
                <a14:m>
                  <m:oMath xmlns:m="http://schemas.openxmlformats.org/officeDocument/2006/math">
                    <m:r>
                      <a:rPr lang="de-CH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57A78F3-8C61-CFE8-EFFA-87DCA3EBD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320" y="1828800"/>
                <a:ext cx="6197600" cy="3441290"/>
              </a:xfrm>
              <a:prstGeom prst="rect">
                <a:avLst/>
              </a:prstGeom>
              <a:blipFill>
                <a:blip r:embed="rId3"/>
                <a:stretch>
                  <a:fillRect b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D4EF307-8C7E-D97B-5FE0-C2D887C66B60}"/>
              </a:ext>
            </a:extLst>
          </p:cNvPr>
          <p:cNvSpPr/>
          <p:nvPr/>
        </p:nvSpPr>
        <p:spPr>
          <a:xfrm>
            <a:off x="838200" y="2212614"/>
            <a:ext cx="4714875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F855152-2642-FD9B-062F-6978E5AA6B03}"/>
              </a:ext>
            </a:extLst>
          </p:cNvPr>
          <p:cNvSpPr txBox="1">
            <a:spLocks/>
          </p:cNvSpPr>
          <p:nvPr/>
        </p:nvSpPr>
        <p:spPr>
          <a:xfrm>
            <a:off x="838200" y="1779176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2C6F1-1C9C-D81F-4A58-A111AA0D16C5}"/>
              </a:ext>
            </a:extLst>
          </p:cNvPr>
          <p:cNvSpPr/>
          <p:nvPr/>
        </p:nvSpPr>
        <p:spPr>
          <a:xfrm>
            <a:off x="83820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4351BA-EAEC-7A7B-0900-B25EB27BD4D3}"/>
              </a:ext>
            </a:extLst>
          </p:cNvPr>
          <p:cNvSpPr/>
          <p:nvPr/>
        </p:nvSpPr>
        <p:spPr>
          <a:xfrm>
            <a:off x="318811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C30AF408-134C-29CC-3528-CB89F5F738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C30AF408-134C-29CC-3528-CB89F5F73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228A8F8-5D48-73C5-6C5A-1CF6AC4C8D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228A8F8-5D48-73C5-6C5A-1CF6AC4C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2E0AE93B-65B3-F09B-222C-131019912DD4}"/>
              </a:ext>
            </a:extLst>
          </p:cNvPr>
          <p:cNvSpPr/>
          <p:nvPr/>
        </p:nvSpPr>
        <p:spPr>
          <a:xfrm>
            <a:off x="838200" y="4011559"/>
            <a:ext cx="233485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A59D8E-9DF6-9811-5118-6455C0070F63}"/>
              </a:ext>
            </a:extLst>
          </p:cNvPr>
          <p:cNvSpPr/>
          <p:nvPr/>
        </p:nvSpPr>
        <p:spPr>
          <a:xfrm>
            <a:off x="3203165" y="4011559"/>
            <a:ext cx="23198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62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F2B1-8905-B146-899A-954968EF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EA1B-A30F-6F04-EF75-49B5560C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Information Theoretic Constraints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DD0BB73-BDAA-ED92-73B2-C547851399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5490" y="1828800"/>
                <a:ext cx="6606510" cy="3441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𝑢𝑛𝑖𝑓𝑜𝑟𝑚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i="1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i="1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de-CH" b="0" dirty="0">
                    <a:latin typeface="+mj-lt"/>
                  </a:rPr>
                  <a:t>Codebook : </a:t>
                </a:r>
                <a14:m>
                  <m:oMath xmlns:m="http://schemas.openxmlformats.org/officeDocument/2006/math">
                    <m:r>
                      <a:rPr lang="de-CH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CH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DD0BB73-BDAA-ED92-73B2-C54785139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490" y="1828800"/>
                <a:ext cx="6606510" cy="3441290"/>
              </a:xfrm>
              <a:prstGeom prst="rect">
                <a:avLst/>
              </a:prstGeom>
              <a:blipFill>
                <a:blip r:embed="rId3"/>
                <a:stretch>
                  <a:fillRect b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1B5EEE8-83A5-FEAE-3C93-EEA751B548F1}"/>
              </a:ext>
            </a:extLst>
          </p:cNvPr>
          <p:cNvSpPr/>
          <p:nvPr/>
        </p:nvSpPr>
        <p:spPr>
          <a:xfrm>
            <a:off x="838200" y="2212614"/>
            <a:ext cx="4714875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6A62C9-FDB1-98F9-4DEA-A61B4AD2FC13}"/>
              </a:ext>
            </a:extLst>
          </p:cNvPr>
          <p:cNvSpPr txBox="1">
            <a:spLocks/>
          </p:cNvSpPr>
          <p:nvPr/>
        </p:nvSpPr>
        <p:spPr>
          <a:xfrm>
            <a:off x="838200" y="1779176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C1065E-2074-36DD-BD09-B8D6AAC040D3}"/>
              </a:ext>
            </a:extLst>
          </p:cNvPr>
          <p:cNvSpPr/>
          <p:nvPr/>
        </p:nvSpPr>
        <p:spPr>
          <a:xfrm>
            <a:off x="83820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E9270A-DA46-A9F8-6CA2-BD92B65A468C}"/>
              </a:ext>
            </a:extLst>
          </p:cNvPr>
          <p:cNvSpPr/>
          <p:nvPr/>
        </p:nvSpPr>
        <p:spPr>
          <a:xfrm>
            <a:off x="3188110" y="221261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DB39D939-DB52-0005-F033-4CD50BAFD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DB39D939-DB52-0005-F033-4CD50BAFD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816" y="2646052"/>
                <a:ext cx="1091383" cy="866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143B617-54D6-FA8C-ED05-33192411A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143B617-54D6-FA8C-ED05-33192411A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549" y="2746372"/>
                <a:ext cx="1091383" cy="866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B9B959F-3D1A-FF33-F38B-019D89538D24}"/>
              </a:ext>
            </a:extLst>
          </p:cNvPr>
          <p:cNvSpPr/>
          <p:nvPr/>
        </p:nvSpPr>
        <p:spPr>
          <a:xfrm>
            <a:off x="838200" y="4011559"/>
            <a:ext cx="233485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6A1918-D10B-D462-94C0-B68D22F01517}"/>
              </a:ext>
            </a:extLst>
          </p:cNvPr>
          <p:cNvSpPr/>
          <p:nvPr/>
        </p:nvSpPr>
        <p:spPr>
          <a:xfrm>
            <a:off x="3203165" y="4011559"/>
            <a:ext cx="23198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889DE0-9238-4DEF-656B-F67C118E78B6}"/>
                  </a:ext>
                </a:extLst>
              </p14:cNvPr>
              <p14:cNvContentPartPr/>
              <p14:nvPr/>
            </p14:nvContentPartPr>
            <p14:xfrm>
              <a:off x="11012353" y="5210626"/>
              <a:ext cx="831600" cy="25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889DE0-9238-4DEF-656B-F67C118E78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06233" y="5204506"/>
                <a:ext cx="8438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837AFB-5DED-DB03-8E36-AA4C4F03A69A}"/>
                  </a:ext>
                </a:extLst>
              </p14:cNvPr>
              <p14:cNvContentPartPr/>
              <p14:nvPr/>
            </p14:nvContentPartPr>
            <p14:xfrm>
              <a:off x="8461622" y="5156202"/>
              <a:ext cx="747360" cy="252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837AFB-5DED-DB03-8E36-AA4C4F03A6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55502" y="5150073"/>
                <a:ext cx="759600" cy="26425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61492FA-51EA-1B47-0940-FE4FEC3F399B}"/>
              </a:ext>
            </a:extLst>
          </p:cNvPr>
          <p:cNvSpPr/>
          <p:nvPr/>
        </p:nvSpPr>
        <p:spPr>
          <a:xfrm rot="16200000">
            <a:off x="1341282" y="4029927"/>
            <a:ext cx="36803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27AAD144-F030-262A-D00B-EA77BC8BB90B}"/>
              </a:ext>
            </a:extLst>
          </p:cNvPr>
          <p:cNvCxnSpPr>
            <a:cxnSpLocks/>
            <a:stCxn id="3" idx="3"/>
            <a:endCxn id="3" idx="0"/>
          </p:cNvCxnSpPr>
          <p:nvPr/>
        </p:nvCxnSpPr>
        <p:spPr>
          <a:xfrm rot="16200000" flipH="1" flipV="1">
            <a:off x="2249941" y="3121268"/>
            <a:ext cx="1840177" cy="22860"/>
          </a:xfrm>
          <a:prstGeom prst="curvedConnector4">
            <a:avLst>
              <a:gd name="adj1" fmla="val 34507"/>
              <a:gd name="adj2" fmla="val 3888473"/>
            </a:avLst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CA074A1E-651C-082A-E5FE-A915690C850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284228" y="4920216"/>
            <a:ext cx="1840177" cy="22860"/>
          </a:xfrm>
          <a:prstGeom prst="curvedConnector4">
            <a:avLst>
              <a:gd name="adj1" fmla="val 34507"/>
              <a:gd name="adj2" fmla="val -3509383"/>
            </a:avLst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806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B0F0-5543-1FB9-DE9E-9ABF1B7C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2770-1215-291A-30D5-6409F101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Rate Distortion*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1A64DE-CD34-A4A5-3360-1145C2CFA077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49F121E-C995-68DF-62CF-365FD2CDC0B2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9E2F1-4EFE-10B4-537C-179FA8A7A90F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9E2F1-4EFE-10B4-537C-179FA8A7A9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F93E51F-3F68-66C9-FFCE-4AA895053640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F93E51F-3F68-66C9-FFCE-4AA895053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1404D49-714E-358E-C2D8-044B35A1C016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1404D49-714E-358E-C2D8-044B35A1C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4006442-A562-6816-E9CF-B25BE69F8059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4006442-A562-6816-E9CF-B25BE69F80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001594E0-E095-00C9-BC67-3448D7ED1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9BDE22-D22C-6729-C949-1B6D0DA969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085" y="4735692"/>
            <a:ext cx="1498257" cy="15702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8B35344-03CB-9674-3647-E33830ECA8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D21E4F7-9074-472A-3F9D-5E6621FD9B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7" y="4852627"/>
            <a:ext cx="1244362" cy="1320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DA7457-9859-822D-ABBD-AA3BDAB6ECD5}"/>
              </a:ext>
            </a:extLst>
          </p:cNvPr>
          <p:cNvSpPr txBox="1"/>
          <p:nvPr/>
        </p:nvSpPr>
        <p:spPr>
          <a:xfrm>
            <a:off x="8445911" y="6233653"/>
            <a:ext cx="4129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*Shannon (1959): </a:t>
            </a:r>
            <a:r>
              <a:rPr lang="en-GB" sz="1600" dirty="0"/>
              <a:t>"</a:t>
            </a:r>
            <a:r>
              <a:rPr lang="en-GB" sz="1600" dirty="0">
                <a:latin typeface="+mj-lt"/>
              </a:rPr>
              <a:t>Coding Theorems for a Discrete Source With a Fidelity Criterion" </a:t>
            </a:r>
          </a:p>
        </p:txBody>
      </p:sp>
    </p:spTree>
    <p:extLst>
      <p:ext uri="{BB962C8B-B14F-4D97-AF65-F5344CB8AC3E}">
        <p14:creationId xmlns:p14="http://schemas.microsoft.com/office/powerpoint/2010/main" val="249225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E2DCE-342C-33F7-EA1C-C224BFDB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4F8C-32EF-DE60-8A1F-0F373BD1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Rate-Distortion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27190-FD50-A6EC-6EE0-ED18E014A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8"/>
                <a:ext cx="693402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dirty="0">
                    <a:latin typeface="+mj-lt"/>
                  </a:rPr>
                  <a:t>Cost/Neg. Utility of ‘distorting’: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de-CH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27190-FD50-A6EC-6EE0-ED18E014A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8"/>
                <a:ext cx="6934029" cy="4351338"/>
              </a:xfrm>
              <a:blipFill>
                <a:blip r:embed="rId3"/>
                <a:stretch>
                  <a:fillRect l="-184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C22FB33-F5E1-965F-77BB-88A8F3CD9DFD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759A9CB-709C-330E-4B54-39526694B2B7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1DA8E33-96E5-4664-1910-29736EA674F7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1DA8E33-96E5-4664-1910-29736EA6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20599D7-449D-68A3-35E0-48A47ADE1FF1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20599D7-449D-68A3-35E0-48A47ADE1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2A8141F-15F3-11FA-41AF-11D3973A7CC2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2A8141F-15F3-11FA-41AF-11D3973A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1AF1B2D-F31C-85FB-1AD8-58EA04FC000B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1AF1B2D-F31C-85FB-1AD8-58EA04FC0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E058FD9F-B670-4716-6104-6D2AB98AFB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C28757-4A9D-21C7-26B2-45FB105CC4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4AAE34-7DEA-E3A8-9ED2-1210C26674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72D8ADD-A316-2C87-667D-FB46DAD492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4672841-63A9-3554-0107-57307BC061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 </a:t>
                </a:r>
                <a:r>
                  <a:rPr lang="de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4672841-63A9-3554-0107-57307BC06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  <a:blipFill>
                <a:blip r:embed="rId12"/>
                <a:stretch>
                  <a:fillRect t="-19565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17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7737-22E8-6D12-6C41-9F116F42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B456-24B7-6928-D4F7-BA7FF30A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Rate-Distortion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027F81-F9C7-474A-9D0D-39F2256B6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8"/>
                <a:ext cx="693402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dirty="0">
                    <a:latin typeface="+mj-lt"/>
                  </a:rPr>
                  <a:t>Cost ‘distorting’: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de-CH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Expected Distortion: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de-C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)] =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027F81-F9C7-474A-9D0D-39F2256B6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8"/>
                <a:ext cx="6934029" cy="4351338"/>
              </a:xfrm>
              <a:blipFill>
                <a:blip r:embed="rId3"/>
                <a:stretch>
                  <a:fillRect l="-184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BF4A0AD2-A6DF-A479-AAA0-0192D2E7C789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507DF64-B3A9-E0F6-CF1A-BEE48952C694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E256237-3279-5EC6-1667-C1F0228923CF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E256237-3279-5EC6-1667-C1F0228923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60F6D0B-A247-6D6C-9567-E757FECAB10D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60F6D0B-A247-6D6C-9567-E757FECAB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86B3662-25DD-BEBE-4E72-423A83761A9D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86B3662-25DD-BEBE-4E72-423A83761A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897C750-8017-B82A-1399-261DEFE603E8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897C750-8017-B82A-1399-261DEFE603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6B687E93-7505-65FA-26DB-E36481146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534C7D-13D6-CDF3-36B3-CE7D9EC5EE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5D8A16-1E44-A3C3-E22C-9D84F40BA6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15649D1-5853-5F44-5222-4EB3E47BAC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2998D22-D579-47B4-F53A-B8D690A24D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= good </a:t>
                </a:r>
                <a:r>
                  <a:rPr lang="de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 = bad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2998D22-D579-47B4-F53A-B8D690A24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  <a:blipFill>
                <a:blip r:embed="rId12"/>
                <a:stretch>
                  <a:fillRect t="-19565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574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9200-A641-C7E3-7665-AA3613F0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83FD-8011-264D-3FC8-25481FA9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Rate-Distortion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8C9F7B-0F9B-69FD-FE9F-DC37DBB0BD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8"/>
                <a:ext cx="693402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dirty="0">
                    <a:latin typeface="+mj-lt"/>
                  </a:rPr>
                  <a:t>Cost of ‘distorting’: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de-CH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Expected Distortion: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de-C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)] =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li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𝐷</m:t>
                          </m:r>
                        </m:lim>
                      </m:limLow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8C9F7B-0F9B-69FD-FE9F-DC37DBB0BD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8"/>
                <a:ext cx="6934029" cy="4351338"/>
              </a:xfrm>
              <a:blipFill>
                <a:blip r:embed="rId3"/>
                <a:stretch>
                  <a:fillRect l="-184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F1796F31-C2AC-BCAB-3403-3AF3B56FB498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BB625BC-B5C2-7770-12C6-678BF970D22D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C9251B8-C177-EC9A-ECE1-6CF84DF61F69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C9251B8-C177-EC9A-ECE1-6CF84DF61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6F7760E-BCEE-670C-544B-8AF416DEF9CF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6F7760E-BCEE-670C-544B-8AF416DEF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F580E99-451C-D9DA-230A-FC08B238629A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F580E99-451C-D9DA-230A-FC08B23862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7C305A-0911-ADCF-EB49-1EDB09337B05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7C305A-0911-ADCF-EB49-1EDB09337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1FA026AE-3678-5624-1A1E-329C835B77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A4E9D6-D01E-1242-0D38-01F7F21C06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EE4BEC6-B52E-5B29-D219-E839FBB34F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E82D81B-440B-9E17-DF11-3BA8AC9E03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237282C-B3CE-555F-063F-3D67A70011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= good </a:t>
                </a:r>
                <a:r>
                  <a:rPr lang="de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 = bad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237282C-B3CE-555F-063F-3D67A7001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  <a:blipFill>
                <a:blip r:embed="rId12"/>
                <a:stretch>
                  <a:fillRect t="-19565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49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4670D-92C1-1A2D-AA65-5E8841CD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D739-9D0E-05D9-E311-93EEAE58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Rate-Distortion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3B961F-196E-7053-140E-2FD4596C3F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dirty="0">
                    <a:latin typeface="+mj-lt"/>
                  </a:rPr>
                  <a:t>Cost of ‘distorting’: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de-CH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Expected Distortion: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de-C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CH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r>
                      <a:rPr lang="de-CH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)] =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de-CH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li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𝐷</m:t>
                          </m:r>
                        </m:lim>
                      </m:limLow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dirty="0"/>
                  <a:t>Which codebook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?</a:t>
                </a:r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3B961F-196E-7053-140E-2FD4596C3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  <a:blipFill>
                <a:blip r:embed="rId3"/>
                <a:stretch>
                  <a:fillRect l="-1847" t="-2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3F362BFE-F6BD-6925-A4C6-36BA60D99EF2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C5532E5-FE53-C5EC-11BB-ECEABE81EEA6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9A38922-EA8C-D30D-D902-91BEC60CA0A8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9A38922-EA8C-D30D-D902-91BEC60C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8CFE40D-91F6-C355-B950-0452F557EEAC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8CFE40D-91F6-C355-B950-0452F557E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27F8AF1-3107-8936-7ABC-7F8D51273034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27F8AF1-3107-8936-7ABC-7F8D51273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2E7BB63-3CF0-8E03-7E51-5992E31D5A50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2E7BB63-3CF0-8E03-7E51-5992E31D5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E818CAED-2CBF-061A-D6E4-C5F254063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1BE30D-2553-ED11-EBD8-444745DA44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CB13B0D-1016-C4DC-E93E-CFDD522411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EDD8476-8919-0EB3-1502-FA80C3B18E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FBADDF8-B35E-FCF8-9CE6-38668997B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= good </a:t>
                </a:r>
                <a:r>
                  <a:rPr lang="de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CH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dirty="0">
                    <a:solidFill>
                      <a:schemeClr val="accent2"/>
                    </a:solidFill>
                  </a:rPr>
                  <a:t> = bad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FBADDF8-B35E-FCF8-9CE6-38668997B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762" y="1139161"/>
                <a:ext cx="6961238" cy="560899"/>
              </a:xfrm>
              <a:prstGeom prst="rect">
                <a:avLst/>
              </a:prstGeom>
              <a:blipFill>
                <a:blip r:embed="rId12"/>
                <a:stretch>
                  <a:fillRect t="-19565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920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1E1F-83FC-3628-E0BE-549AE719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92DD-5544-A70D-3555-9301F431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Loss Function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041AF-1071-2A58-2BBD-26F78B41EB40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C4B3E2-B77F-00BC-16C1-AE42E9D8138E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B7018E-EC7F-BCEF-47A3-06656CEE0937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B7018E-EC7F-BCEF-47A3-06656CEE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7C9F87-4B88-02BB-6F8A-80773E72CCE8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7C9F87-4B88-02BB-6F8A-80773E72CC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42D874-DD4C-2265-B157-DBE39275FB25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42D874-DD4C-2265-B157-DBE39275F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6E89DD-FFDB-5B2C-94F5-C083DA2F1E0C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6E89DD-FFDB-5B2C-94F5-C083DA2F1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2DB5737-F228-C168-5579-80ED418DD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66143-B27B-AECD-9677-A505AAF7DB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F7AF9E-E568-8A16-219D-79E930837B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F0B132-5C96-0D43-1DD5-FE4171D615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CE51699-77CC-5819-787E-C46C7678AE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Exchange rate between </a:t>
                </a:r>
                <a:r>
                  <a:rPr lang="pt-BR" i="1" dirty="0">
                    <a:latin typeface="Cambria Math" panose="02040503050406030204" pitchFamily="18" charset="0"/>
                  </a:rPr>
                  <a:t>D</a:t>
                </a:r>
                <a:r>
                  <a:rPr lang="pt-BR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CH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CE51699-77CC-5819-787E-C46C7678A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  <a:blipFill>
                <a:blip r:embed="rId10"/>
                <a:stretch>
                  <a:fillRect l="-1847" t="-22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80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12BC-49F8-4C03-8B26-3B8AE55CE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C6B9-756C-EE9A-7322-6BCF6A06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Loss Function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76D6E2-9D6D-5CF3-AC79-F2C657D56D9E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083133-F4DF-2F99-D9AA-39824C537082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4218897-6F96-E19C-F965-8D3FE4A1ABBF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4218897-6F96-E19C-F965-8D3FE4A1A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848434-B1CC-E044-1A5E-A8A7CF5205AA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848434-B1CC-E044-1A5E-A8A7CF520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3D5280D-B401-FDEC-81FC-BC537EB9CCC2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3D5280D-B401-FDEC-81FC-BC537EB9C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E55592A-FE96-5644-D81F-992D12D9AC95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E55592A-FE96-5644-D81F-992D12D9A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1294E24-AA03-FF65-69CD-77E318C01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CA925D-28A4-D626-D17D-02CCE4D8DC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42A5D9-0987-0043-52AF-9C9819AA73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1F4CE9-748C-D62E-1DF8-46416E5A15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FBCDC07-14FE-FD36-73AE-1526C6184A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Exchange rate between </a:t>
                </a:r>
                <a:r>
                  <a:rPr lang="pt-BR" i="1" dirty="0">
                    <a:latin typeface="Cambria Math" panose="02040503050406030204" pitchFamily="18" charset="0"/>
                  </a:rPr>
                  <a:t>D</a:t>
                </a:r>
                <a:r>
                  <a:rPr lang="pt-BR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CH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pt-B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ℛ𝒟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FBCDC07-14FE-FD36-73AE-1526C6184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  <a:blipFill>
                <a:blip r:embed="rId11"/>
                <a:stretch>
                  <a:fillRect l="-1847" t="-2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BBB52F8-3BF8-8235-2942-A0D3259CD2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2702" y="3225801"/>
            <a:ext cx="2520120" cy="98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86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5247C-BF81-494A-2C84-E283C806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47CC-28E4-8225-B74A-BB61E3EC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Loss Function Curvature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BD0FB-4778-91A4-C8F8-D7A515B2ACE2}"/>
              </a:ext>
            </a:extLst>
          </p:cNvPr>
          <p:cNvSpPr/>
          <p:nvPr/>
        </p:nvSpPr>
        <p:spPr>
          <a:xfrm>
            <a:off x="395748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EFD244-7D34-829B-31EB-968513BCCD4E}"/>
              </a:ext>
            </a:extLst>
          </p:cNvPr>
          <p:cNvSpPr txBox="1">
            <a:spLocks/>
          </p:cNvSpPr>
          <p:nvPr/>
        </p:nvSpPr>
        <p:spPr>
          <a:xfrm>
            <a:off x="395748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407B73-6DE1-E7AE-22B4-6E7B69E68174}"/>
                  </a:ext>
                </a:extLst>
              </p:cNvPr>
              <p:cNvSpPr/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407B73-6DE1-E7AE-22B4-6E7B69E68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8" y="2792363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047B898-7FC4-76D6-06EC-064C8F9AFBCF}"/>
                  </a:ext>
                </a:extLst>
              </p:cNvPr>
              <p:cNvSpPr/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047B898-7FC4-76D6-06EC-064C8F9AF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6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4851974-3255-7659-5092-DC4BCE67D727}"/>
                  </a:ext>
                </a:extLst>
              </p:cNvPr>
              <p:cNvSpPr/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4851974-3255-7659-5092-DC4BCE67D7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05" y="4611331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FE13E6-894C-AD29-5365-517A0E7CC9C5}"/>
                  </a:ext>
                </a:extLst>
              </p:cNvPr>
              <p:cNvSpPr/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FE13E6-894C-AD29-5365-517A0E7CC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6" y="4618705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38FFC2D-3010-0597-FD36-D70879FB3C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2931" y="3095207"/>
            <a:ext cx="1752514" cy="121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9381D4-D7E1-E30A-F6A3-800E9DECBE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21" y="4735692"/>
            <a:ext cx="1498257" cy="1570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445422-B73B-1CDD-2F1C-BCBC4098CF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07" y="3083592"/>
            <a:ext cx="1157286" cy="1263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FF33B6-8DDB-A32E-E926-7CCCB1FD90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2041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27B6169-95DB-9FBC-8825-2A99E873E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Exchange rate between </a:t>
                </a:r>
                <a:r>
                  <a:rPr lang="pt-BR" i="1" dirty="0">
                    <a:latin typeface="Cambria Math" panose="02040503050406030204" pitchFamily="18" charset="0"/>
                  </a:rPr>
                  <a:t>D</a:t>
                </a:r>
                <a:r>
                  <a:rPr lang="pt-BR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CH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pt-B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ℛ𝒟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Convex: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27B6169-95DB-9FBC-8825-2A99E873E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970" y="1690687"/>
                <a:ext cx="6934029" cy="4802187"/>
              </a:xfrm>
              <a:blipFill>
                <a:blip r:embed="rId11"/>
                <a:stretch>
                  <a:fillRect l="-1847" t="-2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471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CA52-ED47-9308-AD57-A406F408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9C0D-A87F-2485-CDE2-1E0926C9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Loss Function Curvature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59D20-F472-50AB-51C5-5E256503A280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9D1808-C6CA-6AC8-9CA6-E9798263FC54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FF2997-AB53-E986-D9EB-8E5ED3F2EAB6}"/>
                  </a:ext>
                </a:extLst>
              </p:cNvPr>
              <p:cNvSpPr/>
              <p:nvPr/>
            </p:nvSpPr>
            <p:spPr>
              <a:xfrm>
                <a:off x="267929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FF2997-AB53-E986-D9EB-8E5ED3F2EA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29" y="2792363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712CEDC-6EE8-5D06-1158-F27107CED1D7}"/>
                  </a:ext>
                </a:extLst>
              </p:cNvPr>
              <p:cNvSpPr/>
              <p:nvPr/>
            </p:nvSpPr>
            <p:spPr>
              <a:xfrm>
                <a:off x="2632587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712CEDC-6EE8-5D06-1158-F27107CED1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587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D34F72-E518-712D-A8A8-139F34C82510}"/>
                  </a:ext>
                </a:extLst>
              </p:cNvPr>
              <p:cNvSpPr/>
              <p:nvPr/>
            </p:nvSpPr>
            <p:spPr>
              <a:xfrm>
                <a:off x="2632586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D34F72-E518-712D-A8A8-139F34C825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586" y="4611331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3FB6F9-6ABE-CD77-794D-3D28851F5BB2}"/>
                  </a:ext>
                </a:extLst>
              </p:cNvPr>
              <p:cNvSpPr/>
              <p:nvPr/>
            </p:nvSpPr>
            <p:spPr>
              <a:xfrm>
                <a:off x="267927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3FB6F9-6ABE-CD77-794D-3D28851F5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27" y="4618705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66D5ECF-2B63-1215-1609-DF82424B0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5112" y="3095207"/>
            <a:ext cx="1752514" cy="121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21F050-7CC8-35F1-3AF5-F1B5C84187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02" y="4735692"/>
            <a:ext cx="1498257" cy="1570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13BDD-E012-1224-B6B7-36121EDD4B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188" y="3083592"/>
            <a:ext cx="1157286" cy="1263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6F7C92-712F-9EA6-9F7C-B439510630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4222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CC3C1E4-E70D-681C-BD4B-85C46352EF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0038" y="1690687"/>
                <a:ext cx="7919888" cy="4802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Exchange rate between </a:t>
                </a:r>
                <a:r>
                  <a:rPr lang="pt-BR" i="1" dirty="0">
                    <a:latin typeface="Cambria Math" panose="02040503050406030204" pitchFamily="18" charset="0"/>
                  </a:rPr>
                  <a:t>D</a:t>
                </a:r>
                <a:r>
                  <a:rPr lang="pt-BR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CH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pt-B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ℛ𝒟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Convex: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Linear: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𝛽</m:t>
                    </m:r>
                    <m:nary>
                      <m:naryPr>
                        <m:chr m:val="∑"/>
                        <m:supHide m:val="on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/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nary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CC3C1E4-E70D-681C-BD4B-85C46352E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0038" y="1690687"/>
                <a:ext cx="7919888" cy="4802187"/>
              </a:xfrm>
              <a:blipFill>
                <a:blip r:embed="rId11"/>
                <a:stretch>
                  <a:fillRect l="-1617" t="-2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573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4B35-822B-CFD8-A558-4FD0C499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E9F6-1918-77EF-0FDA-F08C4B7B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Loss Function Curvature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32462-464F-CCAF-1A56-980CB3827401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3F89D2-6554-1DC0-6A09-9A7B25CB869C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E648653-27D2-D0D7-52DC-2B13B3C2CD4B}"/>
                  </a:ext>
                </a:extLst>
              </p:cNvPr>
              <p:cNvSpPr/>
              <p:nvPr/>
            </p:nvSpPr>
            <p:spPr>
              <a:xfrm>
                <a:off x="267929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algn="ctr"/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E648653-27D2-D0D7-52DC-2B13B3C2C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29" y="2792363"/>
                <a:ext cx="2337619" cy="181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7CC95D-7744-FAAA-C3DB-487B26884F5E}"/>
                  </a:ext>
                </a:extLst>
              </p:cNvPr>
              <p:cNvSpPr/>
              <p:nvPr/>
            </p:nvSpPr>
            <p:spPr>
              <a:xfrm>
                <a:off x="2632587" y="2792363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7CC95D-7744-FAAA-C3DB-487B26884F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587" y="2792363"/>
                <a:ext cx="2337619" cy="18189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6BB1510-1F4D-D32D-8362-2857696B2DE9}"/>
                  </a:ext>
                </a:extLst>
              </p:cNvPr>
              <p:cNvSpPr/>
              <p:nvPr/>
            </p:nvSpPr>
            <p:spPr>
              <a:xfrm>
                <a:off x="2632586" y="4611331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6BB1510-1F4D-D32D-8362-2857696B2D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586" y="4611331"/>
                <a:ext cx="2337619" cy="1818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9E24BF-1B76-953B-3C5B-B946D4398C60}"/>
                  </a:ext>
                </a:extLst>
              </p:cNvPr>
              <p:cNvSpPr/>
              <p:nvPr/>
            </p:nvSpPr>
            <p:spPr>
              <a:xfrm>
                <a:off x="267927" y="4618705"/>
                <a:ext cx="2337619" cy="18189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b="0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9E24BF-1B76-953B-3C5B-B946D4398C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27" y="4618705"/>
                <a:ext cx="2337619" cy="1818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F94B683-E017-2801-6053-16EE6249CB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5112" y="3095207"/>
            <a:ext cx="1752514" cy="121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B6AE89-2BED-25A7-DFD2-66EBE89A9C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02" y="4735692"/>
            <a:ext cx="1498257" cy="1570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4D107E-7B24-D7D0-4F9B-36FB939AD9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188" y="3083592"/>
            <a:ext cx="1157286" cy="1263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69A7DE-91D3-D700-629B-530D32AD26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4222" y="4806516"/>
            <a:ext cx="1244362" cy="1320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C06F7BA-E12E-1368-5D77-23171BF11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0038" y="1690687"/>
                <a:ext cx="7919888" cy="4802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Exchange rate between </a:t>
                </a:r>
                <a:r>
                  <a:rPr lang="pt-BR" i="1" dirty="0">
                    <a:latin typeface="Cambria Math" panose="02040503050406030204" pitchFamily="18" charset="0"/>
                  </a:rPr>
                  <a:t>D</a:t>
                </a:r>
                <a:r>
                  <a:rPr lang="pt-BR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CH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CH" b="0" i="1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pt-B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ℛ𝒟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Convex: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Linear: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𝛽</m:t>
                    </m:r>
                    <m:nary>
                      <m:naryPr>
                        <m:chr m:val="∑"/>
                        <m:supHide m:val="on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/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nary>
                  </m:oMath>
                </a14:m>
                <a:endParaRPr lang="de-CH" b="0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>
                    <a:latin typeface="+mj-lt"/>
                  </a:rPr>
                  <a:t>Minima are global</a:t>
                </a:r>
              </a:p>
              <a:p>
                <a:pPr marL="0" indent="0">
                  <a:buNone/>
                </a:pPr>
                <a:endParaRPr lang="de-CH" dirty="0">
                  <a:latin typeface="+mj-lt"/>
                </a:endParaRPr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C06F7BA-E12E-1368-5D77-23171BF11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0038" y="1690687"/>
                <a:ext cx="7919888" cy="4802187"/>
              </a:xfrm>
              <a:blipFill>
                <a:blip r:embed="rId11"/>
                <a:stretch>
                  <a:fillRect l="-1617" t="-2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573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D437-91BD-D3E7-2853-FF54D1CC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CAA10-9228-6E2B-13A0-091CD4708F71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361080-4039-4E60-BBB9-1DF061157B29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33544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4078-90C1-B878-CED2-73A518ECE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2C6A21E-076D-E1C1-7857-B69F3B9C6B2E}"/>
              </a:ext>
            </a:extLst>
          </p:cNvPr>
          <p:cNvSpPr txBox="1">
            <a:spLocks/>
          </p:cNvSpPr>
          <p:nvPr/>
        </p:nvSpPr>
        <p:spPr>
          <a:xfrm>
            <a:off x="5545394" y="1680626"/>
            <a:ext cx="6961238" cy="4812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b="0" dirty="0"/>
              <a:t>Y </a:t>
            </a:r>
            <a:r>
              <a:rPr lang="de-CH" dirty="0"/>
              <a:t>  </a:t>
            </a:r>
            <a:r>
              <a:rPr lang="de-CH" b="0" dirty="0"/>
              <a:t>  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CH" dirty="0">
              <a:solidFill>
                <a:schemeClr val="accent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dirty="0">
              <a:solidFill>
                <a:schemeClr val="accent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3BB433-4349-2B1E-D476-07C348C3D033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9148-EB8D-C7F0-F704-7D73C04C1896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88906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8C08-61E8-F3E5-EBE8-4ACAE3E7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E489-DCDC-A1A5-1227-27D8C19E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Information Bottleneck*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F516C8-2BC4-04BD-7CD1-8867C0EE9D61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9DFF8EE-A1A0-257A-3CAB-369A3CEA0A6B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F6208-8B3E-C7C8-38A3-4B5172BC7ACB}"/>
              </a:ext>
            </a:extLst>
          </p:cNvPr>
          <p:cNvSpPr txBox="1">
            <a:spLocks/>
          </p:cNvSpPr>
          <p:nvPr/>
        </p:nvSpPr>
        <p:spPr>
          <a:xfrm>
            <a:off x="5545394" y="1680626"/>
            <a:ext cx="6961238" cy="4812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b="0" dirty="0"/>
              <a:t>Y</a:t>
            </a:r>
            <a:r>
              <a:rPr lang="de-CH" dirty="0"/>
              <a:t>   </a:t>
            </a:r>
            <a:r>
              <a:rPr lang="de-CH" b="0" dirty="0"/>
              <a:t>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CH" dirty="0">
              <a:solidFill>
                <a:schemeClr val="accent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dirty="0">
              <a:solidFill>
                <a:schemeClr val="accent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DAEEAD-2C97-6C27-8BCE-55FBCB9D3BC6}"/>
              </a:ext>
            </a:extLst>
          </p:cNvPr>
          <p:cNvSpPr txBox="1"/>
          <p:nvPr/>
        </p:nvSpPr>
        <p:spPr>
          <a:xfrm>
            <a:off x="8445911" y="6233653"/>
            <a:ext cx="4129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*</a:t>
            </a:r>
            <a:r>
              <a:rPr lang="en-GB" sz="1600" dirty="0" err="1">
                <a:latin typeface="+mj-lt"/>
              </a:rPr>
              <a:t>Tishby</a:t>
            </a:r>
            <a:r>
              <a:rPr lang="en-GB" sz="1600" dirty="0">
                <a:latin typeface="+mj-lt"/>
              </a:rPr>
              <a:t> et al. (2000): </a:t>
            </a:r>
            <a:r>
              <a:rPr lang="en-GB" sz="1600" dirty="0"/>
              <a:t>“</a:t>
            </a:r>
            <a:r>
              <a:rPr lang="en-GB" sz="1600" dirty="0">
                <a:latin typeface="+mj-lt"/>
              </a:rPr>
              <a:t>The Information Bottleneck problem" </a:t>
            </a:r>
          </a:p>
        </p:txBody>
      </p:sp>
    </p:spTree>
    <p:extLst>
      <p:ext uri="{BB962C8B-B14F-4D97-AF65-F5344CB8AC3E}">
        <p14:creationId xmlns:p14="http://schemas.microsoft.com/office/powerpoint/2010/main" val="284215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6FF5-F28A-1954-AAEE-872DD20D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590DA552-00A1-833E-6B11-750834F3E9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45394" y="1680626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de-CH" dirty="0"/>
                  <a:t>Y   R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590DA552-00A1-833E-6B11-750834F3E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394" y="1680626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 l="-1839" t="-22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34001EA-198C-AB09-1D81-FFEA81A3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Information Bottleneck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AF8DA-4614-FE06-C1EB-C56EA7A09200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86F68B5-B796-674E-775F-ABB5EF446CB4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55629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AE652-3867-9241-ECD8-A13DA841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95B7AA4E-AF28-6721-CC3D-0092B67AE4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45394" y="1680626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de-CH" dirty="0"/>
                  <a:t>Y  R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de-CH" dirty="0"/>
                  <a:t>We want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de-CH" b="0" dirty="0"/>
                  <a:t> but no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95B7AA4E-AF28-6721-CC3D-0092B67A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394" y="1680626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 l="-1839" t="-22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18579C9-729D-2D2C-3A6B-A23133DC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Information Bottleneck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B41730-04ED-9FBF-0FE4-52F6E150C9CE}"/>
              </a:ext>
            </a:extLst>
          </p:cNvPr>
          <p:cNvSpPr/>
          <p:nvPr/>
        </p:nvSpPr>
        <p:spPr>
          <a:xfrm>
            <a:off x="267929" y="2792363"/>
            <a:ext cx="4729316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25E53F1-026B-7A3C-B023-384C493A23A0}"/>
              </a:ext>
            </a:extLst>
          </p:cNvPr>
          <p:cNvSpPr txBox="1">
            <a:spLocks/>
          </p:cNvSpPr>
          <p:nvPr/>
        </p:nvSpPr>
        <p:spPr>
          <a:xfrm>
            <a:off x="267929" y="2358925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>
                <a:latin typeface="Cambria Math" panose="020405030504060302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61568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1526-48E8-7B1C-37A1-06A0C7E5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59975D5-6D3A-287F-5895-0A29F89618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59975D5-6D3A-287F-5895-0A29F8961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0854749-1D5C-1C06-EF33-4E8AF0EB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Information Bottleneck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3DE5B8-FD9C-7B76-118A-CD754CFCD032}"/>
                  </a:ext>
                </a:extLst>
              </p:cNvPr>
              <p:cNvSpPr/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3DE5B8-FD9C-7B76-118A-CD754CFCD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514929-B117-1CD1-E96E-168CF79D0DD3}"/>
                  </a:ext>
                </a:extLst>
              </p:cNvPr>
              <p:cNvSpPr/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514929-B117-1CD1-E96E-168CF79D0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12CB034-A441-7430-977F-382385B9725C}"/>
                  </a:ext>
                </a:extLst>
              </p:cNvPr>
              <p:cNvSpPr/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12CB034-A441-7430-977F-382385B972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A83A0-6F3E-B2E0-80C7-8DAAC6D1FAAD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9157518" y="2263305"/>
            <a:ext cx="1" cy="526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28D6F9-7CC2-CD9E-7918-3BF5DF387F58}"/>
              </a:ext>
            </a:extLst>
          </p:cNvPr>
          <p:cNvCxnSpPr/>
          <p:nvPr/>
        </p:nvCxnSpPr>
        <p:spPr>
          <a:xfrm>
            <a:off x="9450027" y="2037163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948642-43A4-18A9-3965-7D384CE44A40}"/>
              </a:ext>
            </a:extLst>
          </p:cNvPr>
          <p:cNvSpPr txBox="1"/>
          <p:nvPr/>
        </p:nvSpPr>
        <p:spPr>
          <a:xfrm>
            <a:off x="8668364" y="1266003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Dependency Graph</a:t>
            </a:r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4370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F645-DE6A-23D9-12DC-3624493B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5AA13D48-61F8-C9B3-E223-075D5EC72D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5AA13D48-61F8-C9B3-E223-075D5EC72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5C1F185-12B1-1879-01EF-A9C3BC9A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Information Bottleneck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4F8D655-0E63-B5B1-04E8-563249A75BDD}"/>
                  </a:ext>
                </a:extLst>
              </p:cNvPr>
              <p:cNvSpPr/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4F8D655-0E63-B5B1-04E8-563249A75B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8F95C4B-DAF8-AB41-4DB3-2DBA53AB5331}"/>
                  </a:ext>
                </a:extLst>
              </p:cNvPr>
              <p:cNvSpPr/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8F95C4B-DAF8-AB41-4DB3-2DBA53AB53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02FC899-C4B4-15E2-D70A-CFB5CEBBA008}"/>
                  </a:ext>
                </a:extLst>
              </p:cNvPr>
              <p:cNvSpPr/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02FC899-C4B4-15E2-D70A-CFB5CEBBA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DB7CDC-DF05-C836-A58C-664138C4293F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9157518" y="2263305"/>
            <a:ext cx="1" cy="526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CFE1D8-BD08-8158-7BC2-7370B276E1B5}"/>
              </a:ext>
            </a:extLst>
          </p:cNvPr>
          <p:cNvCxnSpPr/>
          <p:nvPr/>
        </p:nvCxnSpPr>
        <p:spPr>
          <a:xfrm>
            <a:off x="9450027" y="2037163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6F56FC-8E5E-7DFD-819B-9794DCCF3CA4}"/>
              </a:ext>
            </a:extLst>
          </p:cNvPr>
          <p:cNvSpPr txBox="1"/>
          <p:nvPr/>
        </p:nvSpPr>
        <p:spPr>
          <a:xfrm>
            <a:off x="8668364" y="1266003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Dependency Graph</a:t>
            </a:r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580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8D5F-7676-A3C2-5E1B-2612AB25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9286473-357C-23B4-879C-44A015F5D8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9286473-357C-23B4-879C-44A015F5D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9A06AD5-C08F-7F7F-53CB-9B67D275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Information Bottleneck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A0675F1-DF99-E2D5-7BBD-E261BB3023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5659" y="4249535"/>
                <a:ext cx="6538451" cy="23353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base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de-CH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CH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CH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de-CH" b="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A0675F1-DF99-E2D5-7BBD-E261BB302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659" y="4249535"/>
                <a:ext cx="6538451" cy="23353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48B264-B389-9EB7-4249-0EDEB73B62A1}"/>
              </a:ext>
            </a:extLst>
          </p:cNvPr>
          <p:cNvSpPr txBox="1">
            <a:spLocks/>
          </p:cNvSpPr>
          <p:nvPr/>
        </p:nvSpPr>
        <p:spPr>
          <a:xfrm>
            <a:off x="6226279" y="4249535"/>
            <a:ext cx="298654" cy="3901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BCA681-B8F3-BEF9-FEBD-10691CD8FF2E}"/>
                  </a:ext>
                </a:extLst>
              </p:cNvPr>
              <p:cNvSpPr/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BCA681-B8F3-BEF9-FEBD-10691CD8F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82A661-0741-FB58-CC35-4240A1543910}"/>
                  </a:ext>
                </a:extLst>
              </p:cNvPr>
              <p:cNvSpPr/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82A661-0741-FB58-CC35-4240A15439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FDB3D2-F860-20F7-E930-3C6076143874}"/>
                  </a:ext>
                </a:extLst>
              </p:cNvPr>
              <p:cNvSpPr/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FDB3D2-F860-20F7-E930-3C6076143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9B244F-2C3F-D456-690D-4925F0BA0B1D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9157518" y="2263305"/>
            <a:ext cx="1" cy="526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00CA4A-F704-708E-E50F-C93F7409445F}"/>
              </a:ext>
            </a:extLst>
          </p:cNvPr>
          <p:cNvCxnSpPr/>
          <p:nvPr/>
        </p:nvCxnSpPr>
        <p:spPr>
          <a:xfrm>
            <a:off x="9450027" y="2037163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78AD56-BB8A-64ED-9349-814C4E6643DD}"/>
              </a:ext>
            </a:extLst>
          </p:cNvPr>
          <p:cNvSpPr txBox="1"/>
          <p:nvPr/>
        </p:nvSpPr>
        <p:spPr>
          <a:xfrm>
            <a:off x="8668364" y="1266003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Dependency Graph</a:t>
            </a:r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41999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760F-D87C-871B-C7E7-04A1D957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45DBEF2-CD8E-70C2-E458-786A3CAE55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45DBEF2-CD8E-70C2-E458-786A3CAE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9FF462C-96EF-A361-90C5-F1DC9972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Non-convexity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DF88082-F48D-4AC2-45DF-FBAB19F93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5659" y="4262055"/>
                <a:ext cx="6538451" cy="23353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base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de-CH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CH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CH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de-CH" b="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sSup>
                            <m:sSup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DF88082-F48D-4AC2-45DF-FBAB19F93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659" y="4262055"/>
                <a:ext cx="6538451" cy="23353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2FFE37-F7C5-9362-CB3F-B09A865E60F0}"/>
              </a:ext>
            </a:extLst>
          </p:cNvPr>
          <p:cNvSpPr txBox="1">
            <a:spLocks/>
          </p:cNvSpPr>
          <p:nvPr/>
        </p:nvSpPr>
        <p:spPr>
          <a:xfrm>
            <a:off x="6226279" y="4249535"/>
            <a:ext cx="298654" cy="3901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76367D7-A32F-ACCC-7B7F-474B7A304BB9}"/>
                  </a:ext>
                </a:extLst>
              </p:cNvPr>
              <p:cNvSpPr/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76367D7-A32F-ACCC-7B7F-474B7A304B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55314E-EC5B-8350-6B63-5537125CC9A9}"/>
                  </a:ext>
                </a:extLst>
              </p:cNvPr>
              <p:cNvSpPr/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55314E-EC5B-8350-6B63-5537125CC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FA160D6-ACA2-47D0-9E53-0929610343CE}"/>
                  </a:ext>
                </a:extLst>
              </p:cNvPr>
              <p:cNvSpPr/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FA160D6-ACA2-47D0-9E53-092961034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6135C3-6451-2546-C53E-8460FF54DDC4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9157518" y="2263305"/>
            <a:ext cx="1" cy="526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F0A615-0E68-7AB8-1F54-151194F0C905}"/>
              </a:ext>
            </a:extLst>
          </p:cNvPr>
          <p:cNvCxnSpPr/>
          <p:nvPr/>
        </p:nvCxnSpPr>
        <p:spPr>
          <a:xfrm>
            <a:off x="9450027" y="2037163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5763EC-132A-DD20-2276-9CCDB5453C3F}"/>
              </a:ext>
            </a:extLst>
          </p:cNvPr>
          <p:cNvSpPr txBox="1"/>
          <p:nvPr/>
        </p:nvSpPr>
        <p:spPr>
          <a:xfrm>
            <a:off x="8668364" y="1266003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Dependency Graph</a:t>
            </a:r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93550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2D61-BE60-BA7D-C3CB-535684E9A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A6D454-9148-9B02-07F0-6A74E2D157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45DBEF2-CD8E-70C2-E458-786A3CAE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F1A6D4C-596C-9523-99EB-98390468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Non-convexity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4FDE990-F376-F2DF-860E-7088D4FE41AA}"/>
                  </a:ext>
                </a:extLst>
              </p:cNvPr>
              <p:cNvSpPr/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76367D7-A32F-ACCC-7B7F-474B7A304B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09" y="2790109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77FA10-16C3-4D1D-B05B-C1903A824380}"/>
                  </a:ext>
                </a:extLst>
              </p:cNvPr>
              <p:cNvSpPr/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55314E-EC5B-8350-6B63-5537125CC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10" y="1811021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6EA8A0-5CE8-AC16-ADBD-3DE742BCF2BC}"/>
                  </a:ext>
                </a:extLst>
              </p:cNvPr>
              <p:cNvSpPr/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FA160D6-ACA2-47D0-9E53-092961034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092" y="1811021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D2E3D5-14F8-2FD2-FF37-0E9B9897D9F3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9157518" y="2263305"/>
            <a:ext cx="1" cy="526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7084BB-4324-CC9E-56FA-06CC3D1D1D42}"/>
              </a:ext>
            </a:extLst>
          </p:cNvPr>
          <p:cNvCxnSpPr/>
          <p:nvPr/>
        </p:nvCxnSpPr>
        <p:spPr>
          <a:xfrm>
            <a:off x="9450027" y="2037163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20236DB-380B-0301-D710-D6EA229FB653}"/>
              </a:ext>
            </a:extLst>
          </p:cNvPr>
          <p:cNvSpPr txBox="1"/>
          <p:nvPr/>
        </p:nvSpPr>
        <p:spPr>
          <a:xfrm>
            <a:off x="8668364" y="1266003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Dependency Graph</a:t>
            </a:r>
            <a:endParaRPr lang="en-GB" sz="2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F3CB5-46C9-91D2-F398-94329C8911A0}"/>
              </a:ext>
            </a:extLst>
          </p:cNvPr>
          <p:cNvSpPr txBox="1"/>
          <p:nvPr/>
        </p:nvSpPr>
        <p:spPr>
          <a:xfrm>
            <a:off x="2949677" y="4780571"/>
            <a:ext cx="6324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000" dirty="0"/>
              <a:t>« </a:t>
            </a:r>
            <a:r>
              <a:rPr lang="en-GB" sz="2000" dirty="0">
                <a:latin typeface="+mj-lt"/>
              </a:rPr>
              <a:t>There is no single correct way of carving nature at its joints... nature has no joints, or rather, it has too many.</a:t>
            </a:r>
            <a:r>
              <a:rPr lang="de-CH" sz="2000" dirty="0">
                <a:latin typeface="+mj-lt"/>
              </a:rPr>
              <a:t> »  *</a:t>
            </a:r>
            <a:endParaRPr lang="en-GB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D68DA-5E00-D144-65CC-DD6934580C29}"/>
              </a:ext>
            </a:extLst>
          </p:cNvPr>
          <p:cNvSpPr txBox="1"/>
          <p:nvPr/>
        </p:nvSpPr>
        <p:spPr>
          <a:xfrm>
            <a:off x="6941574" y="6292820"/>
            <a:ext cx="4658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000" dirty="0">
                <a:latin typeface="+mj-lt"/>
              </a:rPr>
              <a:t>*Dupré (1993): </a:t>
            </a:r>
            <a:r>
              <a:rPr lang="de-CH" sz="2000" i="1" dirty="0">
                <a:latin typeface="+mj-lt"/>
              </a:rPr>
              <a:t>The Disorder of Things</a:t>
            </a:r>
            <a:endParaRPr lang="de-CH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3648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9F86-1504-6ACA-856E-CBA4E254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5CD03B-B4F0-B761-8B74-AFBCBEE84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5368" y="1973522"/>
                <a:ext cx="7741264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de-CH" sz="2400" b="0" dirty="0"/>
                  <a:t>Dependency X-Y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de-CH" sz="2400" dirty="0"/>
                  <a:t>- X uniform</a:t>
                </a:r>
                <a:endParaRPr lang="de-CH" sz="2400" b="0" dirty="0"/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de-CH" sz="2400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|×|</m:t>
                    </m:r>
                    <m:r>
                      <m:rPr>
                        <m:sty m:val="p"/>
                      </m:rPr>
                      <a:rPr lang="de-CH" sz="2400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de-CH" sz="2400" b="0" dirty="0"/>
                  <a:t> Dirichlet vectors with concentration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24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de-CH" sz="2400" b="0" dirty="0"/>
              </a:p>
              <a:p>
                <a:pPr>
                  <a:buFontTx/>
                  <a:buChar char="-"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5CD03B-B4F0-B761-8B74-AFBCBEE8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368" y="1973522"/>
                <a:ext cx="7741264" cy="4812249"/>
              </a:xfrm>
              <a:prstGeom prst="rect">
                <a:avLst/>
              </a:prstGeom>
              <a:blipFill>
                <a:blip r:embed="rId3"/>
                <a:stretch>
                  <a:fillRect l="-1181" t="-1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8BBB2E3-4F5C-22B0-0EE4-934369686C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14" y="3309454"/>
            <a:ext cx="5122622" cy="347631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EBE2639-9E56-81D9-3A32-4498E20B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Partitions for Simulations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829216-651B-0B04-C36E-83ED87446F00}"/>
                  </a:ext>
                </a:extLst>
              </p:cNvPr>
              <p:cNvSpPr txBox="1"/>
              <p:nvPr/>
            </p:nvSpPr>
            <p:spPr>
              <a:xfrm>
                <a:off x="2556387" y="1506022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829216-651B-0B04-C36E-83ED87446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387" y="1506022"/>
                <a:ext cx="60960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698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9BAA1-3CCE-C001-3BCB-3422100B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5B9BCF2-6EB2-F834-02A9-3599782AD4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b="0" dirty="0"/>
                  <a:t>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b="0" dirty="0"/>
                  <a:t> given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e-CH" b="0" dirty="0"/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1" dirty="0"/>
                  <a:t>Blahut-Arimoto Algorithm*</a:t>
                </a: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b="0" dirty="0"/>
                  <a:t>Ini</a:t>
                </a:r>
                <a:r>
                  <a:rPr lang="de-CH" dirty="0"/>
                  <a:t>tial guess: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dirty="0"/>
              </a:p>
              <a:p>
                <a:pPr marL="0" indent="0">
                  <a:buNone/>
                </a:pPr>
                <a:r>
                  <a:rPr lang="de-CH" b="0" dirty="0"/>
                  <a:t>Converges to: </a:t>
                </a:r>
                <a14:m>
                  <m:oMath xmlns:m="http://schemas.openxmlformats.org/officeDocument/2006/math"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b="0" dirty="0"/>
                  <a:t>, </a:t>
                </a:r>
                <a14:m>
                  <m:oMath xmlns:m="http://schemas.openxmlformats.org/officeDocument/2006/math"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CH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b="0" dirty="0"/>
              </a:p>
              <a:p>
                <a:pPr marL="0" indent="0">
                  <a:buNone/>
                </a:pPr>
                <a:r>
                  <a:rPr lang="de-CH" dirty="0"/>
                  <a:t>Sweep across betas</a:t>
                </a:r>
                <a:endParaRPr lang="de-CH" b="0" dirty="0"/>
              </a:p>
              <a:p>
                <a:pPr marL="0" indent="0">
                  <a:buNone/>
                </a:pPr>
                <a:endParaRPr lang="de-CH" b="0" dirty="0"/>
              </a:p>
              <a:p>
                <a:pPr marL="0" indent="0"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5B9BCF2-6EB2-F834-02A9-3599782A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81" y="1690688"/>
                <a:ext cx="6961238" cy="4812249"/>
              </a:xfrm>
              <a:prstGeom prst="rect">
                <a:avLst/>
              </a:prstGeom>
              <a:blipFill>
                <a:blip r:embed="rId3"/>
                <a:stretch>
                  <a:fillRect l="-1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6930CC6-8EBE-7043-51C7-D3106203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Partitions for Simulations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84E20-9C45-F57A-0F29-FEC721842249}"/>
              </a:ext>
            </a:extLst>
          </p:cNvPr>
          <p:cNvSpPr txBox="1"/>
          <p:nvPr/>
        </p:nvSpPr>
        <p:spPr>
          <a:xfrm>
            <a:off x="7944465" y="5553396"/>
            <a:ext cx="4345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*Arimoto, S. (1972). An algorithm for computing the capacity of arbitrary discrete memoryless channels. </a:t>
            </a:r>
            <a:r>
              <a:rPr lang="en-GB" sz="1200" i="1" dirty="0"/>
              <a:t>IEEE Transactions on Information Theory </a:t>
            </a:r>
          </a:p>
          <a:p>
            <a:r>
              <a:rPr lang="en-GB" sz="1200" dirty="0">
                <a:latin typeface="+mj-lt"/>
              </a:rPr>
              <a:t>*</a:t>
            </a:r>
            <a:r>
              <a:rPr lang="en-GB" sz="1200" dirty="0"/>
              <a:t>Blahut, R. (1972). Computation of channel capacity and rate-distortion functions. </a:t>
            </a:r>
            <a:r>
              <a:rPr lang="en-GB" sz="1200" i="1" dirty="0"/>
              <a:t>IEEE Transactions on Information Theory</a:t>
            </a:r>
            <a:endParaRPr lang="en-GB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8433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2A30-BAF2-5196-CBCC-6D548D42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7AB37D-D166-BCCD-770B-43C1CC186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335" y="1699940"/>
            <a:ext cx="6091330" cy="46713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0A16E39-B501-3487-FEFF-CDA4C27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Partitions for Simulations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6BEF7-38C3-2C9B-73D4-8DE6479F4FDF}"/>
              </a:ext>
            </a:extLst>
          </p:cNvPr>
          <p:cNvSpPr txBox="1"/>
          <p:nvPr/>
        </p:nvSpPr>
        <p:spPr>
          <a:xfrm>
            <a:off x="6345905" y="6062322"/>
            <a:ext cx="141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bg1"/>
                </a:solidFill>
                <a:latin typeface="+mj-lt"/>
              </a:rPr>
              <a:t>Compression</a:t>
            </a:r>
            <a:endParaRPr lang="en-GB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B13BDC-D532-DC27-5F9A-70E24C69D26B}"/>
              </a:ext>
            </a:extLst>
          </p:cNvPr>
          <p:cNvSpPr txBox="1"/>
          <p:nvPr/>
        </p:nvSpPr>
        <p:spPr>
          <a:xfrm rot="16200000">
            <a:off x="2511690" y="3029070"/>
            <a:ext cx="141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bg1"/>
                </a:solidFill>
                <a:latin typeface="+mj-lt"/>
              </a:rPr>
              <a:t>Informativity</a:t>
            </a:r>
            <a:endParaRPr lang="en-GB" sz="12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1351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8A1C-6D23-22EB-009A-1B94A746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8A4CC13-2A03-2065-566E-5EDC0BDBA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061" y="2300748"/>
            <a:ext cx="7907877" cy="41921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301D5AC-138A-3340-E691-F76B8066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Partitions for Simulations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EF523E-2DC3-1F26-6DA0-35879FD6B966}"/>
              </a:ext>
            </a:extLst>
          </p:cNvPr>
          <p:cNvSpPr txBox="1"/>
          <p:nvPr/>
        </p:nvSpPr>
        <p:spPr>
          <a:xfrm>
            <a:off x="3809999" y="1839083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400" dirty="0">
                <a:latin typeface="+mj-lt"/>
              </a:rPr>
              <a:t>Partition on </a:t>
            </a:r>
            <a:r>
              <a:rPr lang="de-CH" sz="2400" i="1" dirty="0">
                <a:latin typeface="+mj-lt"/>
              </a:rPr>
              <a:t>X</a:t>
            </a:r>
            <a:r>
              <a:rPr lang="de-CH" sz="2400" dirty="0">
                <a:latin typeface="+mj-lt"/>
              </a:rPr>
              <a:t> per codebook </a:t>
            </a:r>
            <a:r>
              <a:rPr lang="de-CH" sz="2400" i="1" dirty="0">
                <a:latin typeface="+mj-lt"/>
              </a:rPr>
              <a:t>p(r|x)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89191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EAC2-3618-1803-66F5-1DFBD25E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482624-931D-4FC7-8288-D99042534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833" y="2085583"/>
            <a:ext cx="7992333" cy="427746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E81A83-57B6-2702-EC98-879455CF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Partitions for Simulations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3C95E2-6624-4E48-530C-B4DC76F9DC15}"/>
              </a:ext>
            </a:extLst>
          </p:cNvPr>
          <p:cNvSpPr txBox="1"/>
          <p:nvPr/>
        </p:nvSpPr>
        <p:spPr>
          <a:xfrm>
            <a:off x="3809999" y="1657303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400" dirty="0">
                <a:latin typeface="+mj-lt"/>
              </a:rPr>
              <a:t>Partition on </a:t>
            </a:r>
            <a:r>
              <a:rPr lang="de-CH" sz="2400" i="1" dirty="0">
                <a:latin typeface="+mj-lt"/>
              </a:rPr>
              <a:t>X</a:t>
            </a:r>
            <a:r>
              <a:rPr lang="de-CH" sz="2400" dirty="0">
                <a:latin typeface="+mj-lt"/>
              </a:rPr>
              <a:t> per codebook </a:t>
            </a:r>
            <a:r>
              <a:rPr lang="de-CH" sz="2400" i="1" dirty="0">
                <a:latin typeface="+mj-lt"/>
              </a:rPr>
              <a:t>p(r|x)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1253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EA2B-1A7E-D79B-EE5B-4D666156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C0255C-909B-78F5-EE65-A32A0DFF3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75" y="2403800"/>
            <a:ext cx="7745250" cy="39427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6BFB36A-667F-DA9C-115E-C108CBD2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Partitions for Simulations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A9834-C9D6-6EE8-605F-DECB4535E412}"/>
              </a:ext>
            </a:extLst>
          </p:cNvPr>
          <p:cNvSpPr txBox="1"/>
          <p:nvPr/>
        </p:nvSpPr>
        <p:spPr>
          <a:xfrm>
            <a:off x="3810000" y="1942135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400" dirty="0">
                <a:latin typeface="+mj-lt"/>
              </a:rPr>
              <a:t>Partition on </a:t>
            </a:r>
            <a:r>
              <a:rPr lang="de-CH" sz="2400" i="1" dirty="0">
                <a:latin typeface="+mj-lt"/>
              </a:rPr>
              <a:t>X</a:t>
            </a:r>
            <a:r>
              <a:rPr lang="de-CH" sz="2400" dirty="0">
                <a:latin typeface="+mj-lt"/>
              </a:rPr>
              <a:t> per codebook </a:t>
            </a:r>
            <a:r>
              <a:rPr lang="de-CH" sz="2400" i="1" dirty="0">
                <a:latin typeface="+mj-lt"/>
              </a:rPr>
              <a:t>p(r|x)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8535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E9AD7-6303-FA6D-141C-AFCC8D94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CA2C-A026-78FF-55A7-3B1726773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Multiple ‘Agents’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9979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EE79-3EA5-861B-B1DB-56D44C2DD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A703-A158-E628-9CBA-E0A9B004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Multiple ‘Agents’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88551E-E838-4D49-D7C0-661B64DDF283}"/>
                  </a:ext>
                </a:extLst>
              </p:cNvPr>
              <p:cNvSpPr txBox="1"/>
              <p:nvPr/>
            </p:nvSpPr>
            <p:spPr>
              <a:xfrm>
                <a:off x="3975427" y="2355238"/>
                <a:ext cx="4241145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CH" sz="2400" b="0" dirty="0">
                    <a:latin typeface="+mj-lt"/>
                  </a:rPr>
                  <a:t>Ini</a:t>
                </a:r>
                <a:r>
                  <a:rPr lang="de-CH" sz="2400" dirty="0">
                    <a:latin typeface="+mj-lt"/>
                  </a:rPr>
                  <a:t>tial guess: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de-CH" sz="24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de-CH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88551E-E838-4D49-D7C0-661B64DDF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427" y="2355238"/>
                <a:ext cx="4241145" cy="477888"/>
              </a:xfrm>
              <a:prstGeom prst="rect">
                <a:avLst/>
              </a:prstGeom>
              <a:blipFill>
                <a:blip r:embed="rId3"/>
                <a:stretch>
                  <a:fillRect l="-2155" t="-10127" b="-24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7547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115F-5430-1146-01DC-8FCCC2439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988B-20C5-564E-77FE-88DFDDD4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Multiple Agents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FA3D298-D3B6-A62F-6FCB-EFF655336E73}"/>
                  </a:ext>
                </a:extLst>
              </p:cNvPr>
              <p:cNvSpPr/>
              <p:nvPr/>
            </p:nvSpPr>
            <p:spPr>
              <a:xfrm>
                <a:off x="4508092" y="3603520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FA3D298-D3B6-A62F-6FCB-EFF655336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092" y="3603520"/>
                <a:ext cx="585017" cy="452284"/>
              </a:xfrm>
              <a:prstGeom prst="rect">
                <a:avLst/>
              </a:prstGeom>
              <a:blipFill>
                <a:blip r:embed="rId3"/>
                <a:stretch>
                  <a:fillRect b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BA044B-8D6A-3618-5547-E8162FCBE661}"/>
                  </a:ext>
                </a:extLst>
              </p:cNvPr>
              <p:cNvSpPr/>
              <p:nvPr/>
            </p:nvSpPr>
            <p:spPr>
              <a:xfrm>
                <a:off x="5646174" y="3603520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BA044B-8D6A-3618-5547-E8162FCBE6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174" y="3603520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521B174-9932-87A5-A469-2B1821B146E1}"/>
                  </a:ext>
                </a:extLst>
              </p:cNvPr>
              <p:cNvSpPr/>
              <p:nvPr/>
            </p:nvSpPr>
            <p:spPr>
              <a:xfrm>
                <a:off x="6779343" y="3603520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521B174-9932-87A5-A469-2B1821B14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343" y="3603520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A14382-E37F-AB0D-F095-257AD2644485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093109" y="3829662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118D80-D04D-DC0D-6C17-84632330BD4D}"/>
              </a:ext>
            </a:extLst>
          </p:cNvPr>
          <p:cNvCxnSpPr/>
          <p:nvPr/>
        </p:nvCxnSpPr>
        <p:spPr>
          <a:xfrm>
            <a:off x="6218903" y="3824746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D1C6E4-900E-A4C4-3AB7-2CE73ED987CE}"/>
              </a:ext>
            </a:extLst>
          </p:cNvPr>
          <p:cNvSpPr txBox="1"/>
          <p:nvPr/>
        </p:nvSpPr>
        <p:spPr>
          <a:xfrm>
            <a:off x="4907525" y="3034790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Dependency Graph</a:t>
            </a:r>
            <a:endParaRPr lang="en-GB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6EEED4C-3AF2-62A7-0D7E-560C15A80BF4}"/>
                  </a:ext>
                </a:extLst>
              </p:cNvPr>
              <p:cNvSpPr/>
              <p:nvPr/>
            </p:nvSpPr>
            <p:spPr>
              <a:xfrm>
                <a:off x="3370010" y="3603520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6EEED4C-3AF2-62A7-0D7E-560C15A80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10" y="3603520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 t="-3896" r="-9091" b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F642DD-BA1B-665C-68F5-71202DDFF092}"/>
              </a:ext>
            </a:extLst>
          </p:cNvPr>
          <p:cNvCxnSpPr>
            <a:stCxn id="12" idx="3"/>
          </p:cNvCxnSpPr>
          <p:nvPr/>
        </p:nvCxnSpPr>
        <p:spPr>
          <a:xfrm>
            <a:off x="3955027" y="3829662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D8DFED-FB9B-B9D7-5068-CA2F86F1FEB3}"/>
                  </a:ext>
                </a:extLst>
              </p:cNvPr>
              <p:cNvSpPr/>
              <p:nvPr/>
            </p:nvSpPr>
            <p:spPr>
              <a:xfrm>
                <a:off x="5646174" y="4557088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D8DFED-FB9B-B9D7-5068-CA2F86F1F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174" y="4557088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936B2C-DB17-2C8F-9B9E-E71717B46237}"/>
              </a:ext>
            </a:extLst>
          </p:cNvPr>
          <p:cNvCxnSpPr>
            <a:cxnSpLocks/>
          </p:cNvCxnSpPr>
          <p:nvPr/>
        </p:nvCxnSpPr>
        <p:spPr>
          <a:xfrm flipV="1">
            <a:off x="5896890" y="4055804"/>
            <a:ext cx="0" cy="484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73CE8DD-D50B-4A69-360B-BEEF80A65EFF}"/>
                  </a:ext>
                </a:extLst>
              </p:cNvPr>
              <p:cNvSpPr/>
              <p:nvPr/>
            </p:nvSpPr>
            <p:spPr>
              <a:xfrm>
                <a:off x="5692878" y="5466666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73CE8DD-D50B-4A69-360B-BEEF80A65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878" y="5466666"/>
                <a:ext cx="585017" cy="4522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FFDA8B-4F05-1950-16A0-2F665B804995}"/>
              </a:ext>
            </a:extLst>
          </p:cNvPr>
          <p:cNvCxnSpPr>
            <a:cxnSpLocks/>
          </p:cNvCxnSpPr>
          <p:nvPr/>
        </p:nvCxnSpPr>
        <p:spPr>
          <a:xfrm flipV="1">
            <a:off x="5931306" y="5009372"/>
            <a:ext cx="0" cy="457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C09CC-A896-3971-6012-2773EAC7267C}"/>
                  </a:ext>
                </a:extLst>
              </p:cNvPr>
              <p:cNvSpPr txBox="1"/>
              <p:nvPr/>
            </p:nvSpPr>
            <p:spPr>
              <a:xfrm>
                <a:off x="3975427" y="2355238"/>
                <a:ext cx="4241145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CH" sz="2400" b="0" dirty="0">
                    <a:latin typeface="+mj-lt"/>
                  </a:rPr>
                  <a:t>Ini</a:t>
                </a:r>
                <a:r>
                  <a:rPr lang="de-CH" sz="2400" dirty="0">
                    <a:latin typeface="+mj-lt"/>
                  </a:rPr>
                  <a:t>tial guess: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de-CH" sz="24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de-CH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C09CC-A896-3971-6012-2773EAC72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427" y="2355238"/>
                <a:ext cx="4241145" cy="477888"/>
              </a:xfrm>
              <a:prstGeom prst="rect">
                <a:avLst/>
              </a:prstGeom>
              <a:blipFill>
                <a:blip r:embed="rId9"/>
                <a:stretch>
                  <a:fillRect l="-2155" t="-10127" b="-24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6332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A9933-371C-16E6-02D7-19E1F8A8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5249-DA7E-8C0E-8B2A-ADD54507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Discord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24468B-8905-B266-AD23-4A1DD119C5B9}"/>
                  </a:ext>
                </a:extLst>
              </p:cNvPr>
              <p:cNvSpPr/>
              <p:nvPr/>
            </p:nvSpPr>
            <p:spPr>
              <a:xfrm>
                <a:off x="4458931" y="263012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24468B-8905-B266-AD23-4A1DD119C5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931" y="2630129"/>
                <a:ext cx="585017" cy="452284"/>
              </a:xfrm>
              <a:prstGeom prst="rect">
                <a:avLst/>
              </a:prstGeom>
              <a:blipFill>
                <a:blip r:embed="rId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F3B4FDC-4141-EA7E-52C4-4A872837E35E}"/>
                  </a:ext>
                </a:extLst>
              </p:cNvPr>
              <p:cNvSpPr/>
              <p:nvPr/>
            </p:nvSpPr>
            <p:spPr>
              <a:xfrm>
                <a:off x="5597013" y="263012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F3B4FDC-4141-EA7E-52C4-4A872837E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13" y="2630129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65DB27-8BB7-10AE-C2B3-87F7BF0FB7E7}"/>
                  </a:ext>
                </a:extLst>
              </p:cNvPr>
              <p:cNvSpPr/>
              <p:nvPr/>
            </p:nvSpPr>
            <p:spPr>
              <a:xfrm>
                <a:off x="6730182" y="263012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65DB27-8BB7-10AE-C2B3-87F7BF0FB7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182" y="2630129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0933A1-3989-C981-33A7-51567223B159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043948" y="2856271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326677-C9BA-0E7B-F4FB-EC49C80E3CFF}"/>
              </a:ext>
            </a:extLst>
          </p:cNvPr>
          <p:cNvCxnSpPr/>
          <p:nvPr/>
        </p:nvCxnSpPr>
        <p:spPr>
          <a:xfrm>
            <a:off x="6169742" y="2851355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F145B2-1B5D-9E96-B4E1-CFDCDAA4E568}"/>
              </a:ext>
            </a:extLst>
          </p:cNvPr>
          <p:cNvSpPr txBox="1"/>
          <p:nvPr/>
        </p:nvSpPr>
        <p:spPr>
          <a:xfrm>
            <a:off x="4771103" y="1828340"/>
            <a:ext cx="237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+mj-lt"/>
              </a:rPr>
              <a:t>Dependency Graph</a:t>
            </a:r>
            <a:endParaRPr lang="en-GB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EACA34-38C8-59AB-FDD6-19E6BFDBE52A}"/>
                  </a:ext>
                </a:extLst>
              </p:cNvPr>
              <p:cNvSpPr/>
              <p:nvPr/>
            </p:nvSpPr>
            <p:spPr>
              <a:xfrm>
                <a:off x="3320849" y="2630129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EACA34-38C8-59AB-FDD6-19E6BFDBE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849" y="2630129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 t="-3846" r="-9091"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7EDCCF-D56A-07E7-981D-A9E981156484}"/>
              </a:ext>
            </a:extLst>
          </p:cNvPr>
          <p:cNvCxnSpPr>
            <a:stCxn id="12" idx="3"/>
          </p:cNvCxnSpPr>
          <p:nvPr/>
        </p:nvCxnSpPr>
        <p:spPr>
          <a:xfrm>
            <a:off x="3905866" y="2856271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CE2F09-3930-C049-D913-806001A64B7A}"/>
                  </a:ext>
                </a:extLst>
              </p:cNvPr>
              <p:cNvSpPr/>
              <p:nvPr/>
            </p:nvSpPr>
            <p:spPr>
              <a:xfrm>
                <a:off x="5597013" y="3583697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CE2F09-3930-C049-D913-806001A64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13" y="3583697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604AB1-CBAE-715F-EED9-635A193119FB}"/>
              </a:ext>
            </a:extLst>
          </p:cNvPr>
          <p:cNvCxnSpPr>
            <a:cxnSpLocks/>
          </p:cNvCxnSpPr>
          <p:nvPr/>
        </p:nvCxnSpPr>
        <p:spPr>
          <a:xfrm flipV="1">
            <a:off x="5847729" y="3082413"/>
            <a:ext cx="0" cy="484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BEB0B6-0997-8E14-B6EF-468F388B3DC6}"/>
                  </a:ext>
                </a:extLst>
              </p:cNvPr>
              <p:cNvSpPr/>
              <p:nvPr/>
            </p:nvSpPr>
            <p:spPr>
              <a:xfrm>
                <a:off x="5643717" y="4493275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BEB0B6-0997-8E14-B6EF-468F388B3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717" y="4493275"/>
                <a:ext cx="585017" cy="4522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A85C59-9717-53CC-EBE1-A62E72FB0DEF}"/>
              </a:ext>
            </a:extLst>
          </p:cNvPr>
          <p:cNvCxnSpPr>
            <a:cxnSpLocks/>
          </p:cNvCxnSpPr>
          <p:nvPr/>
        </p:nvCxnSpPr>
        <p:spPr>
          <a:xfrm flipV="1">
            <a:off x="5882145" y="4035981"/>
            <a:ext cx="0" cy="457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D13499-A6FA-4745-41A2-7BADE46ED505}"/>
                  </a:ext>
                </a:extLst>
              </p:cNvPr>
              <p:cNvSpPr txBox="1"/>
              <p:nvPr/>
            </p:nvSpPr>
            <p:spPr>
              <a:xfrm>
                <a:off x="4049169" y="5426249"/>
                <a:ext cx="4241145" cy="51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 ≥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de-CH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de-CH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D13499-A6FA-4745-41A2-7BADE46ED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169" y="5426249"/>
                <a:ext cx="4241145" cy="5143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988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8DF2-51E9-C01F-EED7-B8BDC965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D373-5B9D-88A0-1F56-993CD2FA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Gavagai*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4532AB-C648-A950-5C9E-23D01C86D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993" y="2494754"/>
            <a:ext cx="2772105" cy="1868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13F31E-59B6-504C-7559-ED8F1ABE5BDC}"/>
              </a:ext>
            </a:extLst>
          </p:cNvPr>
          <p:cNvSpPr txBox="1"/>
          <p:nvPr/>
        </p:nvSpPr>
        <p:spPr>
          <a:xfrm>
            <a:off x="7983155" y="6035176"/>
            <a:ext cx="4345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*</a:t>
            </a:r>
            <a:r>
              <a:rPr lang="en-GB" sz="1400" dirty="0"/>
              <a:t>Quine, W. V. O. (1960). </a:t>
            </a:r>
            <a:r>
              <a:rPr lang="en-GB" sz="1400" i="1" dirty="0"/>
              <a:t>Word and object</a:t>
            </a:r>
            <a:r>
              <a:rPr lang="en-GB" sz="1200" dirty="0"/>
              <a:t>.</a:t>
            </a:r>
            <a:endParaRPr lang="en-GB" sz="1200" i="1" dirty="0"/>
          </a:p>
        </p:txBody>
      </p:sp>
    </p:spTree>
    <p:extLst>
      <p:ext uri="{BB962C8B-B14F-4D97-AF65-F5344CB8AC3E}">
        <p14:creationId xmlns:p14="http://schemas.microsoft.com/office/powerpoint/2010/main" val="571866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3C93-9E06-1EB9-DF13-08910640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8059-76A9-E58E-F043-51C7805F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Gavagai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B9BD49-870E-AA61-7498-16E7F18B79D8}"/>
                  </a:ext>
                </a:extLst>
              </p:cNvPr>
              <p:cNvSpPr/>
              <p:nvPr/>
            </p:nvSpPr>
            <p:spPr>
              <a:xfrm>
                <a:off x="7166865" y="3194848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B9BD49-870E-AA61-7498-16E7F18B7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865" y="3194848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 b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3BF68BF-2188-6395-D566-F64C99ECAE63}"/>
                  </a:ext>
                </a:extLst>
              </p:cNvPr>
              <p:cNvSpPr/>
              <p:nvPr/>
            </p:nvSpPr>
            <p:spPr>
              <a:xfrm>
                <a:off x="6041071" y="3194848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3BF68BF-2188-6395-D566-F64C99ECA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71" y="3194848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FA8C12-BE62-31C0-BA4F-3FFBE974B5ED}"/>
                  </a:ext>
                </a:extLst>
              </p:cNvPr>
              <p:cNvSpPr/>
              <p:nvPr/>
            </p:nvSpPr>
            <p:spPr>
              <a:xfrm>
                <a:off x="4922652" y="3152042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FA8C12-BE62-31C0-BA4F-3FFBE974B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652" y="3152042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413CBA-8F93-D3FA-DBFE-50DE9C3F667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751882" y="3420990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417E76-C4D0-2BBC-1A75-CE35E8DB61EC}"/>
              </a:ext>
            </a:extLst>
          </p:cNvPr>
          <p:cNvCxnSpPr>
            <a:cxnSpLocks/>
          </p:cNvCxnSpPr>
          <p:nvPr/>
        </p:nvCxnSpPr>
        <p:spPr>
          <a:xfrm>
            <a:off x="5488006" y="3378184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F63854-7C7E-D097-6A50-635A98B236B1}"/>
              </a:ext>
            </a:extLst>
          </p:cNvPr>
          <p:cNvSpPr txBox="1"/>
          <p:nvPr/>
        </p:nvSpPr>
        <p:spPr>
          <a:xfrm>
            <a:off x="6513016" y="5579254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‘Lo, a rabbit’</a:t>
            </a:r>
            <a:endParaRPr lang="en-GB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E17AB6-1222-B5A7-D3AC-539D013CD2C5}"/>
                  </a:ext>
                </a:extLst>
              </p:cNvPr>
              <p:cNvSpPr/>
              <p:nvPr/>
            </p:nvSpPr>
            <p:spPr>
              <a:xfrm>
                <a:off x="8304947" y="3202858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E17AB6-1222-B5A7-D3AC-539D013CD2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947" y="3202858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02142A-5245-9CEB-2220-2252F3FC4B28}"/>
              </a:ext>
            </a:extLst>
          </p:cNvPr>
          <p:cNvCxnSpPr>
            <a:cxnSpLocks/>
          </p:cNvCxnSpPr>
          <p:nvPr/>
        </p:nvCxnSpPr>
        <p:spPr>
          <a:xfrm>
            <a:off x="6613800" y="3420990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A927152-B57A-27FE-FEAB-8148DA1470F6}"/>
                  </a:ext>
                </a:extLst>
              </p:cNvPr>
              <p:cNvSpPr/>
              <p:nvPr/>
            </p:nvSpPr>
            <p:spPr>
              <a:xfrm>
                <a:off x="6041071" y="4129430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A927152-B57A-27FE-FEAB-8148DA147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71" y="4129430"/>
                <a:ext cx="585017" cy="452284"/>
              </a:xfrm>
              <a:prstGeom prst="rect">
                <a:avLst/>
              </a:prstGeom>
              <a:blipFill>
                <a:blip r:embed="rId8"/>
                <a:stretch>
                  <a:fillRect b="-141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5B885C-6435-2DF4-0071-320CDB3CB57D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6333580" y="3647132"/>
            <a:ext cx="0" cy="482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5A3E602-7FBA-8E8E-8487-AF0A9ED52897}"/>
                  </a:ext>
                </a:extLst>
              </p:cNvPr>
              <p:cNvSpPr/>
              <p:nvPr/>
            </p:nvSpPr>
            <p:spPr>
              <a:xfrm>
                <a:off x="6087775" y="5039008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5A3E602-7FBA-8E8E-8487-AF0A9ED528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775" y="5039008"/>
                <a:ext cx="585017" cy="4522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26EF05-8F37-E8AC-D5E8-F7763E161FF4}"/>
              </a:ext>
            </a:extLst>
          </p:cNvPr>
          <p:cNvCxnSpPr>
            <a:cxnSpLocks/>
          </p:cNvCxnSpPr>
          <p:nvPr/>
        </p:nvCxnSpPr>
        <p:spPr>
          <a:xfrm flipV="1">
            <a:off x="6326203" y="4581714"/>
            <a:ext cx="0" cy="457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B50BBF3-16D3-7A9F-7EC1-E329B7B64C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0747" y="935051"/>
            <a:ext cx="1966614" cy="132556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441F9E-EFBC-2413-134B-9D6D02221DFB}"/>
              </a:ext>
            </a:extLst>
          </p:cNvPr>
          <p:cNvCxnSpPr>
            <a:stCxn id="6" idx="0"/>
            <a:endCxn id="23" idx="2"/>
          </p:cNvCxnSpPr>
          <p:nvPr/>
        </p:nvCxnSpPr>
        <p:spPr>
          <a:xfrm flipH="1" flipV="1">
            <a:off x="5664054" y="2260614"/>
            <a:ext cx="669526" cy="934234"/>
          </a:xfrm>
          <a:prstGeom prst="straightConnector1">
            <a:avLst/>
          </a:prstGeom>
          <a:ln w="57150">
            <a:solidFill>
              <a:schemeClr val="bg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FA624D1-17F1-215E-0934-098C871A71C0}"/>
              </a:ext>
            </a:extLst>
          </p:cNvPr>
          <p:cNvSpPr txBox="1"/>
          <p:nvPr/>
        </p:nvSpPr>
        <p:spPr>
          <a:xfrm>
            <a:off x="8665432" y="3655142"/>
            <a:ext cx="23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latin typeface="+mj-lt"/>
              </a:rPr>
              <a:t>‘Gavagai’</a:t>
            </a:r>
            <a:endParaRPr lang="en-GB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E3B749-A2A6-F247-668A-7F3017F52831}"/>
                  </a:ext>
                </a:extLst>
              </p:cNvPr>
              <p:cNvSpPr txBox="1"/>
              <p:nvPr/>
            </p:nvSpPr>
            <p:spPr>
              <a:xfrm>
                <a:off x="7618278" y="4763811"/>
                <a:ext cx="4241145" cy="51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 ≥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de-CH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de-CH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E3B749-A2A6-F247-668A-7F3017F52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278" y="4763811"/>
                <a:ext cx="4241145" cy="5143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197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B561-E55A-01AC-0EA5-283B8D1C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62DB-6599-830D-4427-45EEB245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Multiple Agents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04C4284-0339-955A-E2E8-A96B7140C444}"/>
                  </a:ext>
                </a:extLst>
              </p:cNvPr>
              <p:cNvSpPr/>
              <p:nvPr/>
            </p:nvSpPr>
            <p:spPr>
              <a:xfrm>
                <a:off x="8146028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04C4284-0339-955A-E2E8-A96B7140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028" y="260554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 b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ACC56E-48CF-E631-96DD-17581C31FA8D}"/>
                  </a:ext>
                </a:extLst>
              </p:cNvPr>
              <p:cNvSpPr/>
              <p:nvPr/>
            </p:nvSpPr>
            <p:spPr>
              <a:xfrm>
                <a:off x="9284110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ACC56E-48CF-E631-96DD-17581C31F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110" y="260554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645A716-3C08-DDA4-9C09-03EE10D252E9}"/>
                  </a:ext>
                </a:extLst>
              </p:cNvPr>
              <p:cNvSpPr/>
              <p:nvPr/>
            </p:nvSpPr>
            <p:spPr>
              <a:xfrm>
                <a:off x="10417279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4C2B07-22E7-5C30-9E54-C1BF1AC00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79" y="260554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04C6D6-3AB2-9D24-876A-C2A48ED6195C}"/>
              </a:ext>
            </a:extLst>
          </p:cNvPr>
          <p:cNvCxnSpPr>
            <a:stCxn id="3" idx="3"/>
            <a:endCxn id="19" idx="1"/>
          </p:cNvCxnSpPr>
          <p:nvPr/>
        </p:nvCxnSpPr>
        <p:spPr>
          <a:xfrm>
            <a:off x="8731045" y="486696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1034E5-9198-25C1-85E9-972F479A7C4C}"/>
              </a:ext>
            </a:extLst>
          </p:cNvPr>
          <p:cNvCxnSpPr/>
          <p:nvPr/>
        </p:nvCxnSpPr>
        <p:spPr>
          <a:xfrm>
            <a:off x="9856839" y="481780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5A9CDF-E1AB-23AA-7A59-DA4AC24D9916}"/>
              </a:ext>
            </a:extLst>
          </p:cNvPr>
          <p:cNvSpPr txBox="1"/>
          <p:nvPr/>
        </p:nvSpPr>
        <p:spPr>
          <a:xfrm>
            <a:off x="8668365" y="714444"/>
            <a:ext cx="237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+mj-lt"/>
              </a:rPr>
              <a:t>Dependency Graph</a:t>
            </a:r>
            <a:endParaRPr lang="en-GB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544716-8578-D92D-ED83-7C9293DAAFA4}"/>
                  </a:ext>
                </a:extLst>
              </p:cNvPr>
              <p:cNvSpPr/>
              <p:nvPr/>
            </p:nvSpPr>
            <p:spPr>
              <a:xfrm>
                <a:off x="7007946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544716-8578-D92D-ED83-7C9293DAA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946" y="260554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DABBB3-ECCE-80EE-D99C-5F1AB2657052}"/>
              </a:ext>
            </a:extLst>
          </p:cNvPr>
          <p:cNvCxnSpPr>
            <a:stCxn id="8" idx="3"/>
          </p:cNvCxnSpPr>
          <p:nvPr/>
        </p:nvCxnSpPr>
        <p:spPr>
          <a:xfrm>
            <a:off x="7592963" y="486696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4BA1397-DC1E-954B-DA65-9ECC24BD77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218" y="1669779"/>
            <a:ext cx="6261563" cy="48230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CAFCA4-738B-9D8B-C515-D1A34CC577F6}"/>
              </a:ext>
            </a:extLst>
          </p:cNvPr>
          <p:cNvSpPr txBox="1"/>
          <p:nvPr/>
        </p:nvSpPr>
        <p:spPr>
          <a:xfrm>
            <a:off x="6453651" y="6154321"/>
            <a:ext cx="141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bg1"/>
                </a:solidFill>
                <a:latin typeface="+mj-lt"/>
              </a:rPr>
              <a:t>Compression</a:t>
            </a:r>
            <a:endParaRPr lang="en-GB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4D993-F0F7-3B93-6373-F4B20D68F2D2}"/>
              </a:ext>
            </a:extLst>
          </p:cNvPr>
          <p:cNvSpPr txBox="1"/>
          <p:nvPr/>
        </p:nvSpPr>
        <p:spPr>
          <a:xfrm rot="16200000">
            <a:off x="2344541" y="2862039"/>
            <a:ext cx="141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bg1"/>
                </a:solidFill>
                <a:latin typeface="+mj-lt"/>
              </a:rPr>
              <a:t>Informativity</a:t>
            </a:r>
            <a:endParaRPr lang="en-GB" sz="12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74524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D270-1790-3F4F-3497-1B356A04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EF90-9827-F735-D527-6AEB7E87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Multiple Agents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9C682AB-AD4A-AE7F-D944-EDA3B81CC43A}"/>
                  </a:ext>
                </a:extLst>
              </p:cNvPr>
              <p:cNvSpPr/>
              <p:nvPr/>
            </p:nvSpPr>
            <p:spPr>
              <a:xfrm>
                <a:off x="8146028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b="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04C4284-0339-955A-E2E8-A96B7140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028" y="260554"/>
                <a:ext cx="585017" cy="452284"/>
              </a:xfrm>
              <a:prstGeom prst="rect">
                <a:avLst/>
              </a:prstGeom>
              <a:blipFill>
                <a:blip r:embed="rId4"/>
                <a:stretch>
                  <a:fillRect b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374E088-0559-0A26-FF9D-018A41683BA7}"/>
                  </a:ext>
                </a:extLst>
              </p:cNvPr>
              <p:cNvSpPr/>
              <p:nvPr/>
            </p:nvSpPr>
            <p:spPr>
              <a:xfrm>
                <a:off x="9284110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ACC56E-48CF-E631-96DD-17581C31F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110" y="260554"/>
                <a:ext cx="585017" cy="452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A41D8A3-F0CA-BF02-79D0-3F2F25548809}"/>
                  </a:ext>
                </a:extLst>
              </p:cNvPr>
              <p:cNvSpPr/>
              <p:nvPr/>
            </p:nvSpPr>
            <p:spPr>
              <a:xfrm>
                <a:off x="10417279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CH" b="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4C2B07-22E7-5C30-9E54-C1BF1AC00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79" y="260554"/>
                <a:ext cx="585017" cy="452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685AE0-4696-6935-C56C-AC8498E5C83A}"/>
              </a:ext>
            </a:extLst>
          </p:cNvPr>
          <p:cNvCxnSpPr>
            <a:stCxn id="3" idx="3"/>
            <a:endCxn id="19" idx="1"/>
          </p:cNvCxnSpPr>
          <p:nvPr/>
        </p:nvCxnSpPr>
        <p:spPr>
          <a:xfrm>
            <a:off x="8731045" y="486696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845620-2597-9E0E-ED1D-1E8E1D74DFB4}"/>
              </a:ext>
            </a:extLst>
          </p:cNvPr>
          <p:cNvCxnSpPr/>
          <p:nvPr/>
        </p:nvCxnSpPr>
        <p:spPr>
          <a:xfrm>
            <a:off x="9856839" y="481780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9BE0A59-3B5A-8DCF-7B6C-B884D68E3E61}"/>
              </a:ext>
            </a:extLst>
          </p:cNvPr>
          <p:cNvSpPr txBox="1"/>
          <p:nvPr/>
        </p:nvSpPr>
        <p:spPr>
          <a:xfrm>
            <a:off x="8668365" y="714444"/>
            <a:ext cx="237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+mj-lt"/>
              </a:rPr>
              <a:t>Dependency Graph</a:t>
            </a:r>
            <a:endParaRPr lang="en-GB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E51E91-5C75-FCA9-D914-4F162D0CD13A}"/>
                  </a:ext>
                </a:extLst>
              </p:cNvPr>
              <p:cNvSpPr/>
              <p:nvPr/>
            </p:nvSpPr>
            <p:spPr>
              <a:xfrm>
                <a:off x="7007946" y="260554"/>
                <a:ext cx="585017" cy="4522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CH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544716-8578-D92D-ED83-7C9293DAA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946" y="260554"/>
                <a:ext cx="585017" cy="452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D91D4D-D800-2503-23D2-4BA1A0F88709}"/>
              </a:ext>
            </a:extLst>
          </p:cNvPr>
          <p:cNvCxnSpPr>
            <a:stCxn id="8" idx="3"/>
          </p:cNvCxnSpPr>
          <p:nvPr/>
        </p:nvCxnSpPr>
        <p:spPr>
          <a:xfrm>
            <a:off x="7592963" y="486696"/>
            <a:ext cx="553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D521B2B-1E2D-C5DB-DEAB-E2A1DFD27F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010" y="1669779"/>
            <a:ext cx="6261563" cy="48230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69790F-EEA8-A7E1-0AC7-ED7C125180A8}"/>
              </a:ext>
            </a:extLst>
          </p:cNvPr>
          <p:cNvSpPr txBox="1"/>
          <p:nvPr/>
        </p:nvSpPr>
        <p:spPr>
          <a:xfrm>
            <a:off x="4546193" y="6154321"/>
            <a:ext cx="141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bg1"/>
                </a:solidFill>
                <a:latin typeface="+mj-lt"/>
              </a:rPr>
              <a:t>Compression</a:t>
            </a:r>
            <a:endParaRPr lang="en-GB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37A1D-5F79-8DDC-9E25-BB8F0EBC8454}"/>
              </a:ext>
            </a:extLst>
          </p:cNvPr>
          <p:cNvSpPr txBox="1"/>
          <p:nvPr/>
        </p:nvSpPr>
        <p:spPr>
          <a:xfrm rot="16200000">
            <a:off x="299555" y="2826065"/>
            <a:ext cx="1415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bg1"/>
                </a:solidFill>
                <a:latin typeface="+mj-lt"/>
              </a:rPr>
              <a:t>Informativity</a:t>
            </a:r>
            <a:endParaRPr lang="en-GB" sz="1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E912C-D94C-AA17-C0FB-A72129B971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6028" y="2169605"/>
            <a:ext cx="3041908" cy="161139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DB97996-5AD7-4F97-D6C2-03B5B93BF5B7}"/>
              </a:ext>
            </a:extLst>
          </p:cNvPr>
          <p:cNvSpPr/>
          <p:nvPr/>
        </p:nvSpPr>
        <p:spPr>
          <a:xfrm>
            <a:off x="5080000" y="2081544"/>
            <a:ext cx="1927946" cy="688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20800C2-05BB-6570-523C-52E0C8A36972}"/>
              </a:ext>
            </a:extLst>
          </p:cNvPr>
          <p:cNvSpPr/>
          <p:nvPr/>
        </p:nvSpPr>
        <p:spPr>
          <a:xfrm rot="1604007">
            <a:off x="6926537" y="2700669"/>
            <a:ext cx="1255492" cy="13826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F53616-45E0-2347-1E6F-019E9900B82D}"/>
                  </a:ext>
                </a:extLst>
              </p:cNvPr>
              <p:cNvSpPr txBox="1"/>
              <p:nvPr/>
            </p:nvSpPr>
            <p:spPr>
              <a:xfrm>
                <a:off x="7456045" y="3917201"/>
                <a:ext cx="4241145" cy="428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2000" i="1" u="sng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000" i="1" u="sng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de-CH" sz="2000" b="0" i="1" u="sng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):</m:t>
                      </m:r>
                      <m:r>
                        <m:rPr>
                          <m:sty m:val="p"/>
                        </m:rPr>
                        <a:rPr lang="de-CH" sz="2000" b="0" i="1" u="sng" smtClean="0">
                          <a:latin typeface="Cambria Math" panose="02040503050406030204" pitchFamily="18" charset="0"/>
                        </a:rPr>
                        <m:t>Compression</m:t>
                      </m:r>
                    </m:oMath>
                  </m:oMathPara>
                </a14:m>
                <a:endParaRPr lang="de-CH" sz="2000" u="sn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F53616-45E0-2347-1E6F-019E9900B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045" y="3917201"/>
                <a:ext cx="4241145" cy="428515"/>
              </a:xfrm>
              <a:prstGeom prst="rect">
                <a:avLst/>
              </a:prstGeom>
              <a:blipFill>
                <a:blip r:embed="rId10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5F5C14-112F-1C1F-66C2-7734C943BA02}"/>
                  </a:ext>
                </a:extLst>
              </p:cNvPr>
              <p:cNvSpPr txBox="1"/>
              <p:nvPr/>
            </p:nvSpPr>
            <p:spPr>
              <a:xfrm rot="16200000">
                <a:off x="9380767" y="1898588"/>
                <a:ext cx="4241145" cy="443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000" b="0" u="sng" dirty="0"/>
                  <a:t>I</a:t>
                </a:r>
                <a14:m>
                  <m:oMath xmlns:m="http://schemas.openxmlformats.org/officeDocument/2006/math">
                    <m:r>
                      <a:rPr lang="de-CH" sz="2000" b="0" i="1" u="sng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de-CH" sz="2000" i="1" u="sng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  <m:r>
                      <a:rPr lang="de-CH" sz="2000" b="0" i="1" u="sng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de-CH" sz="2000" b="0" i="1" u="sng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de-CH" sz="2000" b="0" i="1" u="sng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de-CH" sz="2000" u="sng" dirty="0">
                    <a:latin typeface="+mj-lt"/>
                  </a:rPr>
                  <a:t> Informativity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5F5C14-112F-1C1F-66C2-7734C943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380767" y="1898588"/>
                <a:ext cx="4241145" cy="443968"/>
              </a:xfrm>
              <a:prstGeom prst="rect">
                <a:avLst/>
              </a:prstGeom>
              <a:blipFill>
                <a:blip r:embed="rId11"/>
                <a:stretch>
                  <a:fillRect l="-6849" r="-16438" b="-14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0359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6017-6311-D9E6-4546-31FE7124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C1F8-B5F3-C641-D4EC-41A36B12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Discord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3FD0F3-07BE-D80A-57E8-9F1C7813C2D7}"/>
                  </a:ext>
                </a:extLst>
              </p:cNvPr>
              <p:cNvSpPr txBox="1"/>
              <p:nvPr/>
            </p:nvSpPr>
            <p:spPr>
              <a:xfrm>
                <a:off x="1404290" y="1989558"/>
                <a:ext cx="4241145" cy="51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):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Info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about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given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3FD0F3-07BE-D80A-57E8-9F1C7813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90" y="1989558"/>
                <a:ext cx="4241145" cy="514308"/>
              </a:xfrm>
              <a:prstGeom prst="rect">
                <a:avLst/>
              </a:prstGeom>
              <a:blipFill>
                <a:blip r:embed="rId3"/>
                <a:stretch>
                  <a:fillRect l="-287" b="-7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DDBA7-24F0-315E-1821-EE0FEC7EFB4E}"/>
                  </a:ext>
                </a:extLst>
              </p:cNvPr>
              <p:cNvSpPr txBox="1"/>
              <p:nvPr/>
            </p:nvSpPr>
            <p:spPr>
              <a:xfrm>
                <a:off x="6887004" y="1989558"/>
                <a:ext cx="4241145" cy="51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0" dirty="0"/>
                  <a:t>I</a:t>
                </a: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de-CH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de-CH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de-CH" sz="2400" dirty="0">
                    <a:latin typeface="+mj-lt"/>
                  </a:rPr>
                  <a:t> Info about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r>
                  <a:rPr lang="de-CH" sz="2400" dirty="0">
                    <a:latin typeface="+mj-lt"/>
                  </a:rPr>
                  <a:t> given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de-CH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DDBA7-24F0-315E-1821-EE0FEC7EF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004" y="1989558"/>
                <a:ext cx="4241145" cy="514308"/>
              </a:xfrm>
              <a:prstGeom prst="rect">
                <a:avLst/>
              </a:prstGeom>
              <a:blipFill>
                <a:blip r:embed="rId4"/>
                <a:stretch>
                  <a:fillRect l="-2302" t="-5882" b="-1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60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3FAF-DDF7-A239-BFEF-9C2378B3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E4B2-7BCB-A9C5-AE54-E9F32C153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Discord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BFEBD-119C-C072-18AE-D84F10BA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18" y="2535155"/>
            <a:ext cx="10342246" cy="40622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943C9A-02AF-4015-E119-CD72D8D8D8C3}"/>
                  </a:ext>
                </a:extLst>
              </p:cNvPr>
              <p:cNvSpPr txBox="1"/>
              <p:nvPr/>
            </p:nvSpPr>
            <p:spPr>
              <a:xfrm>
                <a:off x="1404290" y="1989558"/>
                <a:ext cx="4241145" cy="51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):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Info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about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400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given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943C9A-02AF-4015-E119-CD72D8D8D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90" y="1989558"/>
                <a:ext cx="4241145" cy="514308"/>
              </a:xfrm>
              <a:prstGeom prst="rect">
                <a:avLst/>
              </a:prstGeom>
              <a:blipFill>
                <a:blip r:embed="rId4"/>
                <a:stretch>
                  <a:fillRect l="-287" b="-7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A7BC08-41FE-D3BC-E8DD-6173B3E67979}"/>
                  </a:ext>
                </a:extLst>
              </p:cNvPr>
              <p:cNvSpPr txBox="1"/>
              <p:nvPr/>
            </p:nvSpPr>
            <p:spPr>
              <a:xfrm>
                <a:off x="6887004" y="1989558"/>
                <a:ext cx="4241145" cy="51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0" dirty="0"/>
                  <a:t>I</a:t>
                </a: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de-CH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de-CH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de-CH" sz="2400" dirty="0">
                    <a:latin typeface="+mj-lt"/>
                  </a:rPr>
                  <a:t> Info about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r>
                  <a:rPr lang="de-CH" sz="2400" dirty="0">
                    <a:latin typeface="+mj-lt"/>
                  </a:rPr>
                  <a:t> given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CH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de-CH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A7BC08-41FE-D3BC-E8DD-6173B3E67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004" y="1989558"/>
                <a:ext cx="4241145" cy="514308"/>
              </a:xfrm>
              <a:prstGeom prst="rect">
                <a:avLst/>
              </a:prstGeom>
              <a:blipFill>
                <a:blip r:embed="rId5"/>
                <a:stretch>
                  <a:fillRect l="-2302" t="-5882" b="-1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93973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95B6-6C28-8A26-6EAC-43EE2E83A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8E01-081F-1583-382D-F82C7996E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Discord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3A25E-5C6E-86D9-0104-C0B61CC93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518" y="1690688"/>
            <a:ext cx="6254964" cy="464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926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23B9-759E-7FB4-C146-2692F7CC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0C0F-3927-A1B0-610D-2049C8B3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Discord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F9CC4-D277-1CF2-7AAA-FE0528A3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01" y="1850080"/>
            <a:ext cx="6254964" cy="4642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B0D29-3964-1A8B-D09E-B5EBB6996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355" y="2703445"/>
            <a:ext cx="4435538" cy="1325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8526F-07DB-FEDB-0613-22AA9325ABBF}"/>
                  </a:ext>
                </a:extLst>
              </p:cNvPr>
              <p:cNvSpPr txBox="1"/>
              <p:nvPr/>
            </p:nvSpPr>
            <p:spPr>
              <a:xfrm rot="16200000">
                <a:off x="9590121" y="2611426"/>
                <a:ext cx="4241145" cy="443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000" b="0" u="sng" dirty="0"/>
                  <a:t>I</a:t>
                </a:r>
                <a14:m>
                  <m:oMath xmlns:m="http://schemas.openxmlformats.org/officeDocument/2006/math">
                    <m:r>
                      <a:rPr lang="de-CH" sz="2000" b="0" i="1" u="sng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de-CH" sz="2000" i="1" u="sng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  <m:r>
                      <a:rPr lang="de-CH" sz="2000" b="0" i="1" u="sng" dirty="0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de-CH" sz="2000" i="1" u="sng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de-CH" sz="2000" b="0" i="1" u="sng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de-CH" sz="2000" u="sng" dirty="0">
                    <a:latin typeface="+mj-lt"/>
                  </a:rPr>
                  <a:t> Info about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2000" i="1" u="sng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r>
                  <a:rPr lang="de-CH" sz="2000" u="sng" dirty="0">
                    <a:latin typeface="+mj-lt"/>
                  </a:rPr>
                  <a:t> given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2000" i="1" u="sng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de-CH" sz="2000" i="1" u="sng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de-CH" sz="2000" u="sng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8526F-07DB-FEDB-0613-22AA9325A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590121" y="2611426"/>
                <a:ext cx="4241145" cy="443968"/>
              </a:xfrm>
              <a:prstGeom prst="rect">
                <a:avLst/>
              </a:prstGeom>
              <a:blipFill>
                <a:blip r:embed="rId5"/>
                <a:stretch>
                  <a:fillRect l="-6944" r="-18056" b="-14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DF14CA-319C-1D22-D99F-74EA028040D8}"/>
                  </a:ext>
                </a:extLst>
              </p:cNvPr>
              <p:cNvSpPr txBox="1"/>
              <p:nvPr/>
            </p:nvSpPr>
            <p:spPr>
              <a:xfrm>
                <a:off x="7143380" y="4071925"/>
                <a:ext cx="4241145" cy="428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2000" i="1" u="sng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000" i="1" u="sng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de-CH" sz="2000" i="1" u="sng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): </m:t>
                      </m:r>
                      <m:r>
                        <m:rPr>
                          <m:sty m:val="p"/>
                        </m:rPr>
                        <a:rPr lang="de-CH" sz="2000" b="0" i="1" u="sng" smtClean="0">
                          <a:latin typeface="Cambria Math" panose="02040503050406030204" pitchFamily="18" charset="0"/>
                        </a:rPr>
                        <m:t>Info</m:t>
                      </m:r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1" u="sng" smtClean="0">
                          <a:latin typeface="Cambria Math" panose="02040503050406030204" pitchFamily="18" charset="0"/>
                        </a:rPr>
                        <m:t>about</m:t>
                      </m:r>
                      <m:sSub>
                        <m:sSubPr>
                          <m:ctrlPr>
                            <a:rPr lang="de-CH" sz="2000" i="1" u="sng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b="0" i="1" u="sng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000" i="1" u="sng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CH" sz="2000" b="0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1" u="sng" smtClean="0">
                          <a:latin typeface="Cambria Math" panose="02040503050406030204" pitchFamily="18" charset="0"/>
                        </a:rPr>
                        <m:t>given</m:t>
                      </m:r>
                      <m:sSub>
                        <m:sSubPr>
                          <m:ctrlPr>
                            <a:rPr lang="de-CH" sz="2000" i="1" u="sng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b="0" i="1" u="sng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CH" sz="2000" i="1" u="sng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2000" u="sn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DF14CA-319C-1D22-D99F-74EA02804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380" y="4071925"/>
                <a:ext cx="4241145" cy="428515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0CA8B388-888B-B09B-9DE6-1FF4595E1BF3}"/>
              </a:ext>
            </a:extLst>
          </p:cNvPr>
          <p:cNvSpPr/>
          <p:nvPr/>
        </p:nvSpPr>
        <p:spPr>
          <a:xfrm>
            <a:off x="4440664" y="1997747"/>
            <a:ext cx="1927946" cy="688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0DFCD1F-73A8-98E3-30BC-6FBC0B7BC6A9}"/>
              </a:ext>
            </a:extLst>
          </p:cNvPr>
          <p:cNvSpPr/>
          <p:nvPr/>
        </p:nvSpPr>
        <p:spPr>
          <a:xfrm rot="1604007">
            <a:off x="5740864" y="2935524"/>
            <a:ext cx="1255492" cy="13826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9761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86A7-4B84-36C9-DF6B-FF83079B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D989-A0A5-73EE-0CCF-F0C5BE13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Discord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9A852-7FCC-E900-FB30-339C3E72A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866" y="2012714"/>
            <a:ext cx="6768267" cy="435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679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7D9D-9F2D-F4B7-2972-94986FFD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C99C-6CEB-B0D9-66C3-2433F0AFB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Deterministic Representations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20832-0E63-C3C1-8161-48936DA0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551" y="2072679"/>
            <a:ext cx="2314898" cy="3400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138DAA-041F-4C71-4FAD-2B1796480121}"/>
              </a:ext>
            </a:extLst>
          </p:cNvPr>
          <p:cNvSpPr txBox="1"/>
          <p:nvPr/>
        </p:nvSpPr>
        <p:spPr>
          <a:xfrm>
            <a:off x="4938551" y="5473579"/>
            <a:ext cx="5905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dirty="0">
                <a:latin typeface="+mj-lt"/>
              </a:rPr>
              <a:t>What genre</a:t>
            </a:r>
            <a:r>
              <a:rPr lang="de-CH" sz="2400" i="1" dirty="0">
                <a:latin typeface="+mj-lt"/>
              </a:rPr>
              <a:t> ?</a:t>
            </a:r>
            <a:endParaRPr lang="de-CH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27378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DB39-17D4-8DB0-DABC-4CBE4377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35D1-11F5-624E-5915-1CBB9AEA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4EAD4-BE39-4ABE-A769-DEEC79C08CD6}"/>
              </a:ext>
            </a:extLst>
          </p:cNvPr>
          <p:cNvSpPr txBox="1"/>
          <p:nvPr/>
        </p:nvSpPr>
        <p:spPr>
          <a:xfrm>
            <a:off x="1081548" y="2967335"/>
            <a:ext cx="3883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dirty="0">
                <a:latin typeface="+mj-lt"/>
              </a:rPr>
              <a:t>«Carve nature at its joints»?*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1EA569-E3B7-5C07-224F-C04FF3D190AB}"/>
              </a:ext>
            </a:extLst>
          </p:cNvPr>
          <p:cNvSpPr txBox="1"/>
          <p:nvPr/>
        </p:nvSpPr>
        <p:spPr>
          <a:xfrm>
            <a:off x="5447071" y="2967335"/>
            <a:ext cx="69096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000" dirty="0">
                <a:latin typeface="+mj-lt"/>
              </a:rPr>
              <a:t>«</a:t>
            </a:r>
            <a:r>
              <a:rPr lang="en-GB" sz="2000" dirty="0">
                <a:latin typeface="+mj-lt"/>
              </a:rPr>
              <a:t>Most, if not all, categories do not have clear-cut boundaries</a:t>
            </a:r>
            <a:r>
              <a:rPr lang="de-CH" sz="2000" dirty="0"/>
              <a:t>»</a:t>
            </a:r>
            <a:r>
              <a:rPr lang="de-CH" sz="2000" dirty="0">
                <a:latin typeface="+mj-lt"/>
              </a:rPr>
              <a:t>?</a:t>
            </a:r>
            <a:r>
              <a:rPr lang="de-CH" sz="2000" dirty="0"/>
              <a:t>**</a:t>
            </a:r>
            <a:endParaRPr lang="en-GB" sz="20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842A69-6FDA-19A8-AF21-E62B54E439FA}"/>
              </a:ext>
            </a:extLst>
          </p:cNvPr>
          <p:cNvSpPr txBox="1"/>
          <p:nvPr/>
        </p:nvSpPr>
        <p:spPr>
          <a:xfrm>
            <a:off x="1811593" y="6292820"/>
            <a:ext cx="3883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000" dirty="0">
                <a:latin typeface="+mj-lt"/>
              </a:rPr>
              <a:t>Plato’s </a:t>
            </a:r>
            <a:r>
              <a:rPr lang="de-CH" sz="2000" i="1" dirty="0">
                <a:latin typeface="+mj-lt"/>
              </a:rPr>
              <a:t>Phaedrus*</a:t>
            </a:r>
            <a:endParaRPr lang="de-CH" sz="20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69760-EF60-0C8B-7F77-EA404BEBD33A}"/>
              </a:ext>
            </a:extLst>
          </p:cNvPr>
          <p:cNvSpPr txBox="1"/>
          <p:nvPr/>
        </p:nvSpPr>
        <p:spPr>
          <a:xfrm>
            <a:off x="6921910" y="6292820"/>
            <a:ext cx="4827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000" dirty="0">
                <a:latin typeface="+mj-lt"/>
              </a:rPr>
              <a:t>Rosch (1978): </a:t>
            </a:r>
            <a:r>
              <a:rPr lang="de-CH" sz="2000" i="1" dirty="0">
                <a:latin typeface="+mj-lt"/>
              </a:rPr>
              <a:t>Principles of Categorization</a:t>
            </a:r>
            <a:endParaRPr lang="de-CH" sz="20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E7FCF8-73C4-3CE4-D765-38E672175509}"/>
              </a:ext>
            </a:extLst>
          </p:cNvPr>
          <p:cNvSpPr/>
          <p:nvPr/>
        </p:nvSpPr>
        <p:spPr>
          <a:xfrm>
            <a:off x="5378245" y="2005781"/>
            <a:ext cx="68826" cy="3657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58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D575-59FA-0AF7-4004-F8D70572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64EF-D91D-64BF-3907-15BAFAC5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2E2E70-8EB1-09CE-2BD4-E86BDBF4C82D}"/>
              </a:ext>
            </a:extLst>
          </p:cNvPr>
          <p:cNvSpPr txBox="1"/>
          <p:nvPr/>
        </p:nvSpPr>
        <p:spPr>
          <a:xfrm>
            <a:off x="4872826" y="1175437"/>
            <a:ext cx="5374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At lower betas: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1193DB-9647-AEB3-B8F7-8DAC802A235A}"/>
                  </a:ext>
                </a:extLst>
              </p:cNvPr>
              <p:cNvSpPr txBox="1"/>
              <p:nvPr/>
            </p:nvSpPr>
            <p:spPr>
              <a:xfrm>
                <a:off x="2620202" y="5859086"/>
                <a:ext cx="64519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de-CH" sz="24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1193DB-9647-AEB3-B8F7-8DAC802A2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202" y="5859086"/>
                <a:ext cx="6451927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959ED33-F978-4E0D-FAD2-4E869D7050C4}"/>
                  </a:ext>
                </a:extLst>
              </p14:cNvPr>
              <p14:cNvContentPartPr/>
              <p14:nvPr/>
            </p14:nvContentPartPr>
            <p14:xfrm>
              <a:off x="5399694" y="6321497"/>
              <a:ext cx="780840" cy="226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959ED33-F978-4E0D-FAD2-4E869D7050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3577" y="6315377"/>
                <a:ext cx="793074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555EE21-156D-4BB5-BE5E-8924B7DA48EE}"/>
                  </a:ext>
                </a:extLst>
              </p14:cNvPr>
              <p14:cNvContentPartPr/>
              <p14:nvPr/>
            </p14:nvContentPartPr>
            <p14:xfrm>
              <a:off x="7934437" y="6320751"/>
              <a:ext cx="799560" cy="216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555EE21-156D-4BB5-BE5E-8924B7DA48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28317" y="6314631"/>
                <a:ext cx="811800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994AC32-15AA-60E0-2729-EAB8A8793D20}"/>
              </a:ext>
            </a:extLst>
          </p:cNvPr>
          <p:cNvSpPr/>
          <p:nvPr/>
        </p:nvSpPr>
        <p:spPr>
          <a:xfrm>
            <a:off x="3442933" y="1961644"/>
            <a:ext cx="4714875" cy="344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9AAD4C7-4914-2547-BEEC-0C30C72D8A10}"/>
              </a:ext>
            </a:extLst>
          </p:cNvPr>
          <p:cNvSpPr txBox="1">
            <a:spLocks/>
          </p:cNvSpPr>
          <p:nvPr/>
        </p:nvSpPr>
        <p:spPr>
          <a:xfrm>
            <a:off x="3442933" y="1528206"/>
            <a:ext cx="1091383" cy="86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i="1">
                <a:latin typeface="Cambria Math" panose="02040503050406030204" pitchFamily="18" charset="0"/>
              </a:rPr>
              <a:t>X</a:t>
            </a:r>
            <a:endParaRPr lang="de-CH" i="1" dirty="0">
              <a:latin typeface="Cambria Math" panose="020405030504060302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B27FAA-5C4B-C607-60A8-0000E8EE9C29}"/>
              </a:ext>
            </a:extLst>
          </p:cNvPr>
          <p:cNvSpPr/>
          <p:nvPr/>
        </p:nvSpPr>
        <p:spPr>
          <a:xfrm>
            <a:off x="3442933" y="196164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A1EF41-F9E4-0C59-CC54-73818A90A3E9}"/>
              </a:ext>
            </a:extLst>
          </p:cNvPr>
          <p:cNvSpPr/>
          <p:nvPr/>
        </p:nvSpPr>
        <p:spPr>
          <a:xfrm>
            <a:off x="5792843" y="1961643"/>
            <a:ext cx="2349910" cy="368035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E31B181F-7396-D2D6-43F3-05FCDC66BD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5549" y="239508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E31B181F-7396-D2D6-43F3-05FCDC66B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549" y="2395082"/>
                <a:ext cx="1091383" cy="8668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CC6E6D0-CF82-AE94-71B9-9498D6A9A1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3282" y="2495402"/>
                <a:ext cx="1091383" cy="8668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CC6E6D0-CF82-AE94-71B9-9498D6A9A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282" y="2495402"/>
                <a:ext cx="1091383" cy="8668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D3D715D-102A-FA26-EE5A-9F5BBB1B5F3A}"/>
              </a:ext>
            </a:extLst>
          </p:cNvPr>
          <p:cNvSpPr/>
          <p:nvPr/>
        </p:nvSpPr>
        <p:spPr>
          <a:xfrm>
            <a:off x="3442933" y="3760589"/>
            <a:ext cx="233485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FDD299-C59F-45AD-6440-0B86DFBA776D}"/>
              </a:ext>
            </a:extLst>
          </p:cNvPr>
          <p:cNvSpPr/>
          <p:nvPr/>
        </p:nvSpPr>
        <p:spPr>
          <a:xfrm>
            <a:off x="5807898" y="3760589"/>
            <a:ext cx="23198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8274EE-FF9F-F97A-2362-02D2F03542D1}"/>
              </a:ext>
            </a:extLst>
          </p:cNvPr>
          <p:cNvSpPr/>
          <p:nvPr/>
        </p:nvSpPr>
        <p:spPr>
          <a:xfrm rot="16200000">
            <a:off x="3946015" y="3778957"/>
            <a:ext cx="36803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AD93BF62-62C9-8453-1B9A-5B99E40C489B}"/>
              </a:ext>
            </a:extLst>
          </p:cNvPr>
          <p:cNvCxnSpPr>
            <a:cxnSpLocks/>
            <a:stCxn id="34" idx="3"/>
            <a:endCxn id="34" idx="0"/>
          </p:cNvCxnSpPr>
          <p:nvPr/>
        </p:nvCxnSpPr>
        <p:spPr>
          <a:xfrm rot="16200000" flipH="1" flipV="1">
            <a:off x="4854674" y="2870298"/>
            <a:ext cx="1840177" cy="22860"/>
          </a:xfrm>
          <a:prstGeom prst="curvedConnector4">
            <a:avLst>
              <a:gd name="adj1" fmla="val 34507"/>
              <a:gd name="adj2" fmla="val 3888473"/>
            </a:avLst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B870FE01-1A85-271F-CF15-310DBCE9ABF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888961" y="4669246"/>
            <a:ext cx="1840177" cy="22860"/>
          </a:xfrm>
          <a:prstGeom prst="curvedConnector4">
            <a:avLst>
              <a:gd name="adj1" fmla="val 34507"/>
              <a:gd name="adj2" fmla="val -3509383"/>
            </a:avLst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356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DBA99-A2F1-3E1E-B33A-00BE02C4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59AE-B211-18DF-0263-BA6F1560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DAF178-FEA3-8ED1-57D1-4CE41C539D65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DAF178-FEA3-8ED1-57D1-4CE41C539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3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E6D2329-9EDC-6FDF-A7DB-0A93ABC56EB7}"/>
              </a:ext>
            </a:extLst>
          </p:cNvPr>
          <p:cNvSpPr txBox="1"/>
          <p:nvPr/>
        </p:nvSpPr>
        <p:spPr>
          <a:xfrm>
            <a:off x="4450941" y="1664396"/>
            <a:ext cx="5374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dirty="0">
                <a:latin typeface="+mj-lt"/>
              </a:rPr>
              <a:t>Are hard partitions always optimal?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8B35C4-5224-D4F8-77A4-55885A94A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941" y="2411338"/>
            <a:ext cx="6653596" cy="33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206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7F69-AA36-7BE7-6B4D-BD94E462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D7D3-94EF-9374-EAB0-DF38FC77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CE2D2-FBFF-B300-0FE8-87E17A9202D8}"/>
              </a:ext>
            </a:extLst>
          </p:cNvPr>
          <p:cNvSpPr txBox="1"/>
          <p:nvPr/>
        </p:nvSpPr>
        <p:spPr>
          <a:xfrm>
            <a:off x="4450941" y="1664396"/>
            <a:ext cx="5374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There exist optimal hard partitions.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639102-3831-A910-608B-CDCEBD31D9D7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639102-3831-A910-608B-CDCEBD31D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3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335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BACA9-F7B6-51A8-A1C3-DE76637E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8C6A-D1B7-7ED0-FEB5-6700E598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CBCCB-4955-63A2-AD5B-2978D454622D}"/>
              </a:ext>
            </a:extLst>
          </p:cNvPr>
          <p:cNvSpPr txBox="1"/>
          <p:nvPr/>
        </p:nvSpPr>
        <p:spPr>
          <a:xfrm>
            <a:off x="4450941" y="1664396"/>
            <a:ext cx="5374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There exist optimal hard partitions.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5C8199-2474-B809-224A-34C6B7994DA4}"/>
                  </a:ext>
                </a:extLst>
              </p:cNvPr>
              <p:cNvSpPr txBox="1"/>
              <p:nvPr/>
            </p:nvSpPr>
            <p:spPr>
              <a:xfrm>
                <a:off x="4450941" y="2967335"/>
                <a:ext cx="696123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dirty="0">
                    <a:latin typeface="+mj-lt"/>
                  </a:rPr>
                  <a:t>maximize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de-CH" sz="2400" dirty="0">
                  <a:latin typeface="+mj-lt"/>
                </a:endParaRPr>
              </a:p>
              <a:p>
                <a:r>
                  <a:rPr lang="pt-BR" sz="2400" dirty="0">
                    <a:latin typeface="+mj-lt"/>
                  </a:rPr>
                  <a:t>minimize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de-CH" sz="2400" dirty="0">
                    <a:latin typeface="+mj-lt"/>
                  </a:rPr>
                  <a:t>, concave in </a:t>
                </a: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2400" dirty="0">
                  <a:latin typeface="+mj-lt"/>
                </a:endParaRPr>
              </a:p>
              <a:p>
                <a:r>
                  <a:rPr lang="de-CH" sz="2400" dirty="0">
                    <a:latin typeface="+mj-lt"/>
                  </a:rPr>
                  <a:t>Global minimum obtained at extreme points of </a:t>
                </a:r>
                <a14:m>
                  <m:oMath xmlns:m="http://schemas.openxmlformats.org/officeDocument/2006/math">
                    <m:r>
                      <a:rPr lang="de-CH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2400" dirty="0"/>
              </a:p>
              <a:p>
                <a:endParaRPr lang="de-CH" sz="2400" dirty="0">
                  <a:latin typeface="+mj-lt"/>
                </a:endParaRPr>
              </a:p>
              <a:p>
                <a:endParaRPr lang="de-CH" sz="2400" dirty="0">
                  <a:latin typeface="+mj-lt"/>
                </a:endParaRPr>
              </a:p>
              <a:p>
                <a:endParaRPr lang="de-CH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5C8199-2474-B809-224A-34C6B7994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2967335"/>
                <a:ext cx="6961238" cy="2308324"/>
              </a:xfrm>
              <a:prstGeom prst="rect">
                <a:avLst/>
              </a:prstGeom>
              <a:blipFill>
                <a:blip r:embed="rId3"/>
                <a:stretch>
                  <a:fillRect l="-1313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E092D0-ED82-F798-07EB-C3F9B408FF08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E092D0-ED82-F798-07EB-C3F9B408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4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9911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2E56-803C-E836-F040-C459DC0D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D92C-62B4-3A5F-086C-4A787CF2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DA031-D6F9-CB4E-C0CB-02330409858B}"/>
              </a:ext>
            </a:extLst>
          </p:cNvPr>
          <p:cNvSpPr txBox="1"/>
          <p:nvPr/>
        </p:nvSpPr>
        <p:spPr>
          <a:xfrm>
            <a:off x="4450941" y="1664396"/>
            <a:ext cx="5374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There exist optimal hard partitions.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58AC35-41EF-DE0D-6609-5A11CD3DA4A3}"/>
                  </a:ext>
                </a:extLst>
              </p:cNvPr>
              <p:cNvSpPr txBox="1"/>
              <p:nvPr/>
            </p:nvSpPr>
            <p:spPr>
              <a:xfrm>
                <a:off x="4450941" y="2967335"/>
                <a:ext cx="696123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dirty="0">
                    <a:latin typeface="+mj-lt"/>
                  </a:rPr>
                  <a:t>maximize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de-CH" sz="2400" dirty="0">
                  <a:latin typeface="+mj-lt"/>
                </a:endParaRPr>
              </a:p>
              <a:p>
                <a:r>
                  <a:rPr lang="pt-BR" sz="2400" dirty="0">
                    <a:latin typeface="+mj-lt"/>
                  </a:rPr>
                  <a:t>minimize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de-CH" sz="2400" dirty="0">
                    <a:latin typeface="+mj-lt"/>
                  </a:rPr>
                  <a:t>, concave in </a:t>
                </a: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2400" dirty="0">
                  <a:latin typeface="+mj-lt"/>
                </a:endParaRPr>
              </a:p>
              <a:p>
                <a:r>
                  <a:rPr lang="de-CH" sz="2400" dirty="0">
                    <a:latin typeface="+mj-lt"/>
                  </a:rPr>
                  <a:t>Global minimum obtained at extreme points of </a:t>
                </a:r>
                <a14:m>
                  <m:oMath xmlns:m="http://schemas.openxmlformats.org/officeDocument/2006/math">
                    <m:r>
                      <a:rPr lang="de-CH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2400" dirty="0"/>
              </a:p>
              <a:p>
                <a:endParaRPr lang="de-CH" sz="2400" dirty="0">
                  <a:latin typeface="+mj-lt"/>
                </a:endParaRPr>
              </a:p>
              <a:p>
                <a:endParaRPr lang="de-CH" sz="2400" dirty="0">
                  <a:latin typeface="+mj-lt"/>
                </a:endParaRPr>
              </a:p>
              <a:p>
                <a:endParaRPr lang="de-CH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58AC35-41EF-DE0D-6609-5A11CD3DA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2967335"/>
                <a:ext cx="6961238" cy="2308324"/>
              </a:xfrm>
              <a:prstGeom prst="rect">
                <a:avLst/>
              </a:prstGeom>
              <a:blipFill>
                <a:blip r:embed="rId3"/>
                <a:stretch>
                  <a:fillRect l="-1313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BC22E93-C825-A3B3-E9DC-0C457F48FF84}"/>
              </a:ext>
            </a:extLst>
          </p:cNvPr>
          <p:cNvSpPr txBox="1"/>
          <p:nvPr/>
        </p:nvSpPr>
        <p:spPr>
          <a:xfrm>
            <a:off x="4593509" y="4813994"/>
            <a:ext cx="61234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But how common are optimal hard partitions?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F16C60-09B5-A806-0837-69C55152B8BF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F16C60-09B5-A806-0837-69C55152B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4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4531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E4C3-C14E-9271-7B61-587854D1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2F98-8F5D-28F6-8A48-44663BD4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F8EEB15-6E9B-508F-88C2-A8370CF3D3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942" y="1820094"/>
                <a:ext cx="6538451" cy="23353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base"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sSup>
                            <m:sSup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de-CH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de-CH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CH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F8EEB15-6E9B-508F-88C2-A8370CF3D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2" y="1820094"/>
                <a:ext cx="6538451" cy="2335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DA986F2-A925-0026-6B7D-084356625508}"/>
              </a:ext>
            </a:extLst>
          </p:cNvPr>
          <p:cNvGrpSpPr/>
          <p:nvPr/>
        </p:nvGrpSpPr>
        <p:grpSpPr>
          <a:xfrm>
            <a:off x="7458457" y="2548308"/>
            <a:ext cx="192600" cy="77400"/>
            <a:chOff x="7458457" y="2548308"/>
            <a:chExt cx="192600" cy="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F222CC-4E17-FBC1-343C-F48581433C14}"/>
                    </a:ext>
                  </a:extLst>
                </p14:cNvPr>
                <p14:cNvContentPartPr/>
                <p14:nvPr/>
              </p14:nvContentPartPr>
              <p14:xfrm>
                <a:off x="7462417" y="2548308"/>
                <a:ext cx="188640" cy="77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F222CC-4E17-FBC1-343C-F48581433C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56297" y="2542188"/>
                  <a:ext cx="200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086F3E-494C-458D-EF4C-8350C588618A}"/>
                    </a:ext>
                  </a:extLst>
                </p14:cNvPr>
                <p14:cNvContentPartPr/>
                <p14:nvPr/>
              </p14:nvContentPartPr>
              <p14:xfrm>
                <a:off x="7458457" y="2578548"/>
                <a:ext cx="23760" cy="3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086F3E-494C-458D-EF4C-8350C58861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52337" y="2572428"/>
                  <a:ext cx="3600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FE32AD-251D-F602-1CAA-CB3D992C1494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FE32AD-251D-F602-1CAA-CB3D992C1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8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8459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72FA-F0F6-09B8-A6B3-9501FBE0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3F0E-DD2E-9946-8380-F5A61492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009A6-2985-85CB-FECF-55581B3668CC}"/>
              </a:ext>
            </a:extLst>
          </p:cNvPr>
          <p:cNvSpPr txBox="1"/>
          <p:nvPr/>
        </p:nvSpPr>
        <p:spPr>
          <a:xfrm>
            <a:off x="4450941" y="1664396"/>
            <a:ext cx="5882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There exist optimal soft partitions when: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7C973-E674-D75D-207F-96916BFB467E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7C973-E674-D75D-207F-96916BFB4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3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8703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48E31-F56B-3093-0933-476B7DBF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BC92-FECB-716C-9F80-1D7AA7A9E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CF3CAD9-3F3B-23A3-8EBF-74B7621BDA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941" y="2362708"/>
                <a:ext cx="6538451" cy="4071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base">
                  <a:buNone/>
                </a:pPr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𝑝𝑒𝑟𝑡𝑢𝑟𝑏</m:t>
                      </m:r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: + </m:t>
                      </m:r>
                      <m:r>
                        <a:rPr lang="de-CH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de-CH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CH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de-CH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de-CH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CH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de-CH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de-CH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de-CH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CH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de-CH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CH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de-CH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de-CH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de-CH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b="0" dirty="0">
                  <a:solidFill>
                    <a:schemeClr val="accent2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CF3CAD9-3F3B-23A3-8EBF-74B7621BD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2362708"/>
                <a:ext cx="6538451" cy="4071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F07C98D-94FB-9E8A-DF93-CC0775DD6543}"/>
              </a:ext>
            </a:extLst>
          </p:cNvPr>
          <p:cNvSpPr txBox="1"/>
          <p:nvPr/>
        </p:nvSpPr>
        <p:spPr>
          <a:xfrm>
            <a:off x="4450941" y="1664396"/>
            <a:ext cx="5882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There exist optimal soft partitions when: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9FCAA9-7DAD-4811-FC0D-7D0A76D5435D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9FCAA9-7DAD-4811-FC0D-7D0A76D54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4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216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4680A-1828-FA7E-D680-89CAC925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C475-41C9-6731-A3D2-C7125D88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Soft v.s. Hard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A64B6B7-4A93-A695-5597-4B9B2BA4E8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9045" y="2362708"/>
                <a:ext cx="7115361" cy="4071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base">
                  <a:buNone/>
                </a:pPr>
                <a:r>
                  <a:rPr lang="de-CH" b="1" dirty="0">
                    <a:latin typeface="Cambria Math" panose="02040503050406030204" pitchFamily="18" charset="0"/>
                  </a:rPr>
                  <a:t>Not Sure</a:t>
                </a:r>
              </a:p>
              <a:p>
                <a:pPr marL="0" indent="0" algn="ctr" fontAlgn="base">
                  <a:buNone/>
                </a:pPr>
                <a:endParaRPr lang="de-CH" dirty="0">
                  <a:latin typeface="Cambria Math" panose="02040503050406030204" pitchFamily="18" charset="0"/>
                </a:endParaRPr>
              </a:p>
              <a:p>
                <a:pPr algn="ctr" fontAlgn="base">
                  <a:buFontTx/>
                  <a:buChar char="-"/>
                </a:pPr>
                <a:r>
                  <a:rPr lang="de-CH" dirty="0">
                    <a:latin typeface="Cambria Math" panose="02040503050406030204" pitchFamily="18" charset="0"/>
                  </a:rPr>
                  <a:t>Symmetries in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dirty="0">
                  <a:latin typeface="Cambria Math" panose="02040503050406030204" pitchFamily="18" charset="0"/>
                </a:endParaRPr>
              </a:p>
              <a:p>
                <a:pPr marL="0" indent="0" algn="ctr" fontAlgn="base">
                  <a:buNone/>
                </a:pPr>
                <a:r>
                  <a:rPr lang="de-CH" dirty="0">
                    <a:latin typeface="Cambria Math" panose="02040503050406030204" pitchFamily="18" charset="0"/>
                  </a:rPr>
                  <a:t> </a:t>
                </a:r>
              </a:p>
              <a:p>
                <a:pPr algn="ctr" fontAlgn="base">
                  <a:buFontTx/>
                  <a:buChar char="-"/>
                </a:pPr>
                <a:r>
                  <a:rPr lang="de-CH" dirty="0">
                    <a:latin typeface="Cambria Math" panose="02040503050406030204" pitchFamily="18" charset="0"/>
                  </a:rPr>
                  <a:t>Uniformity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dirty="0">
                    <a:latin typeface="Cambria Math" panose="02040503050406030204" pitchFamily="18" charset="0"/>
                  </a:rPr>
                  <a:t>, deterministic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e-CH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A64B6B7-4A93-A695-5597-4B9B2BA4E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045" y="2362708"/>
                <a:ext cx="7115361" cy="4071822"/>
              </a:xfrm>
              <a:prstGeom prst="rect">
                <a:avLst/>
              </a:prstGeom>
              <a:blipFill>
                <a:blip r:embed="rId3"/>
                <a:stretch>
                  <a:fillRect l="-428" t="-2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584D988-9142-4298-95B8-561E47F4A3BF}"/>
              </a:ext>
            </a:extLst>
          </p:cNvPr>
          <p:cNvSpPr txBox="1"/>
          <p:nvPr/>
        </p:nvSpPr>
        <p:spPr>
          <a:xfrm>
            <a:off x="4450941" y="1664396"/>
            <a:ext cx="5882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dirty="0">
                <a:latin typeface="+mj-lt"/>
              </a:rPr>
              <a:t>There exist optimal soft partitions when: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F07528-5487-78A5-2648-1B7007A5975A}"/>
                  </a:ext>
                </a:extLst>
              </p:cNvPr>
              <p:cNvSpPr txBox="1"/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2400" b="1" dirty="0">
                    <a:latin typeface="+mj-lt"/>
                  </a:rPr>
                  <a:t>At</a:t>
                </a:r>
                <a:r>
                  <a:rPr lang="de-CH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CH" sz="2400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de-CH" sz="2400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F07528-5487-78A5-2648-1B7007A59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41" y="1148286"/>
                <a:ext cx="5374553" cy="461665"/>
              </a:xfrm>
              <a:prstGeom prst="rect">
                <a:avLst/>
              </a:prstGeom>
              <a:blipFill>
                <a:blip r:embed="rId4"/>
                <a:stretch>
                  <a:fillRect l="-170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8680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AAB6-66DF-3813-4DA1-56C4294F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D7C4-81A2-0F40-2F7E-0C37453D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Given natural constraints, IB can provide insight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F3AE4-A9FA-8C7B-C0A7-E77B0F160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78" y="365125"/>
            <a:ext cx="2456501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716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04D5-EF09-9FE8-93FC-1FEB3A30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3706-4753-0843-FC5D-B05062E9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FAC43-A77D-FA66-39E3-FF94E91B2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Given natural constraints, IB can provide insight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Could there be different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Yes, because of non-convexity </a:t>
            </a: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1B0211-D4CE-54A8-791A-92B8526A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78" y="365125"/>
            <a:ext cx="2456501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489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522D-E435-F45E-D378-214FC86C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810B-2D34-EC84-11DD-EEEFC89A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2D39F-E340-99B2-A6A4-CB6F26120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Given natural constraints, IB can provide insight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Could there be different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Yes, because of non-convexity 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Do different principled partitions «just say the same thing in different ways?»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No, they genuinely capture different relevancies</a:t>
            </a: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611E3-0F8E-6E2F-0C81-CC881D4F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78" y="365125"/>
            <a:ext cx="2456501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958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3423-7354-7564-BEA9-72529FFD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4D7B-078C-8F35-9110-AC056B0F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6AA3-FCFD-C29B-6A5D-F98CAB54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4840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How can we obtain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Given natural constraints, IB can provide insight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Could there be different principled partitions?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Yes, because of non-convexity </a:t>
            </a:r>
          </a:p>
          <a:p>
            <a:pPr>
              <a:buFontTx/>
              <a:buChar char="-"/>
            </a:pPr>
            <a:r>
              <a:rPr lang="de-CH" dirty="0">
                <a:latin typeface="Cambria Math" panose="02040503050406030204" pitchFamily="18" charset="0"/>
              </a:rPr>
              <a:t>Do different principled partitions «just say the same thing in different ways?»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No, they genuinely capture different relevancies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- Are principled partitions hard or soft?</a:t>
            </a:r>
          </a:p>
          <a:p>
            <a:pPr marL="0" indent="0">
              <a:buNone/>
            </a:pPr>
            <a:r>
              <a:rPr lang="de-CH" dirty="0">
                <a:latin typeface="Cambria Math" panose="02040503050406030204" pitchFamily="18" charset="0"/>
              </a:rPr>
              <a:t>→ Under compression constraints, soft is smart; If accuracy is imperative, hard is common</a:t>
            </a: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CH" dirty="0">
              <a:latin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6056C-81DF-14F1-6E1E-BFE3B956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78" y="365125"/>
            <a:ext cx="2456501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551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5FA4-60A9-3A9C-4864-74983401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3FAA-F236-3309-B3F6-6074C644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Outlook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B7A8-E4FC-56BE-5861-A7D12C42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Create a large simulated data set</a:t>
            </a:r>
          </a:p>
          <a:p>
            <a:r>
              <a:rPr lang="de-CH" dirty="0"/>
              <a:t>Justify procedural rationality: annealing, many trials, many betas?</a:t>
            </a:r>
          </a:p>
          <a:p>
            <a:r>
              <a:rPr lang="de-CH" dirty="0"/>
              <a:t>Details on how likely soft partitions are </a:t>
            </a:r>
          </a:p>
          <a:p>
            <a:r>
              <a:rPr lang="de-CH" dirty="0"/>
              <a:t>Combining codebooks, combined updating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04182-729B-5F33-AF26-4D7D3795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78" y="365125"/>
            <a:ext cx="2456501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0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2188</TotalTime>
  <Words>2425</Words>
  <Application>Microsoft Office PowerPoint</Application>
  <PresentationFormat>Widescreen</PresentationFormat>
  <Paragraphs>651</Paragraphs>
  <Slides>70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Aptos</vt:lpstr>
      <vt:lpstr>Arial</vt:lpstr>
      <vt:lpstr>Cambria Math</vt:lpstr>
      <vt:lpstr>Times New Roman</vt:lpstr>
      <vt:lpstr>Office Theme</vt:lpstr>
      <vt:lpstr>Non-Convex Gavagai</vt:lpstr>
      <vt:lpstr>Motivation</vt:lpstr>
      <vt:lpstr>Motivation</vt:lpstr>
      <vt:lpstr>Motivation</vt:lpstr>
      <vt:lpstr>Motivation</vt:lpstr>
      <vt:lpstr>Guiding Questions</vt:lpstr>
      <vt:lpstr>Guiding Questions</vt:lpstr>
      <vt:lpstr>Guiding Questions</vt:lpstr>
      <vt:lpstr>Guiding Questions</vt:lpstr>
      <vt:lpstr>Information Theory</vt:lpstr>
      <vt:lpstr>Information Theory*</vt:lpstr>
      <vt:lpstr>Information Theoretic Constraints</vt:lpstr>
      <vt:lpstr>Information Theoretic Constraints</vt:lpstr>
      <vt:lpstr>Information Theoretic Constraints</vt:lpstr>
      <vt:lpstr>Information Theoretic Constraints</vt:lpstr>
      <vt:lpstr>Rate Distortion*</vt:lpstr>
      <vt:lpstr>Rate-Distortion</vt:lpstr>
      <vt:lpstr>Rate-Distortion</vt:lpstr>
      <vt:lpstr>Rate-Distortion</vt:lpstr>
      <vt:lpstr>Rate-Distortion</vt:lpstr>
      <vt:lpstr>Loss Function</vt:lpstr>
      <vt:lpstr>Loss Function</vt:lpstr>
      <vt:lpstr>Loss Function Curvature</vt:lpstr>
      <vt:lpstr>Loss Function Curvature</vt:lpstr>
      <vt:lpstr>Loss Function Curvature</vt:lpstr>
      <vt:lpstr>PowerPoint Presentation</vt:lpstr>
      <vt:lpstr>PowerPoint Presentation</vt:lpstr>
      <vt:lpstr>Information Bottleneck*</vt:lpstr>
      <vt:lpstr>Information Bottleneck</vt:lpstr>
      <vt:lpstr>Information Bottleneck</vt:lpstr>
      <vt:lpstr>Information Bottleneck</vt:lpstr>
      <vt:lpstr>Information Bottleneck</vt:lpstr>
      <vt:lpstr>Information Bottleneck</vt:lpstr>
      <vt:lpstr>Non-convexity</vt:lpstr>
      <vt:lpstr>Non-convexity</vt:lpstr>
      <vt:lpstr>Partitions for Simulations</vt:lpstr>
      <vt:lpstr>Partitions for Simulations</vt:lpstr>
      <vt:lpstr>Partitions for Simulations</vt:lpstr>
      <vt:lpstr>Partitions for Simulations</vt:lpstr>
      <vt:lpstr>Partitions for Simulations</vt:lpstr>
      <vt:lpstr>Partitions for Simulations</vt:lpstr>
      <vt:lpstr>Multiple ‘Agents’</vt:lpstr>
      <vt:lpstr>Multiple ‘Agents’</vt:lpstr>
      <vt:lpstr>Multiple Agents</vt:lpstr>
      <vt:lpstr>Discord</vt:lpstr>
      <vt:lpstr>Gavagai*</vt:lpstr>
      <vt:lpstr>Gavagai</vt:lpstr>
      <vt:lpstr>Multiple Agents</vt:lpstr>
      <vt:lpstr>Multiple Agents</vt:lpstr>
      <vt:lpstr>Discord</vt:lpstr>
      <vt:lpstr>Discord</vt:lpstr>
      <vt:lpstr>Discord</vt:lpstr>
      <vt:lpstr>Discord</vt:lpstr>
      <vt:lpstr>Discord</vt:lpstr>
      <vt:lpstr>Deterministic Representations</vt:lpstr>
      <vt:lpstr>Soft v.s. Hard</vt:lpstr>
      <vt:lpstr>Soft v.s. Hard</vt:lpstr>
      <vt:lpstr>Soft v.s. Hard</vt:lpstr>
      <vt:lpstr>Soft v.s. Hard</vt:lpstr>
      <vt:lpstr>Soft v.s. Hard</vt:lpstr>
      <vt:lpstr>Soft v.s. Hard</vt:lpstr>
      <vt:lpstr>Soft v.s. Hard</vt:lpstr>
      <vt:lpstr>Soft v.s. Hard</vt:lpstr>
      <vt:lpstr>Soft v.s. Hard</vt:lpstr>
      <vt:lpstr>Soft v.s. Hard</vt:lpstr>
      <vt:lpstr>Summary</vt:lpstr>
      <vt:lpstr>Summary</vt:lpstr>
      <vt:lpstr>Summary</vt:lpstr>
      <vt:lpstr>Summary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 Romeo Kuhn</dc:creator>
  <cp:lastModifiedBy>Noe Romeo Kuhn</cp:lastModifiedBy>
  <cp:revision>33</cp:revision>
  <dcterms:created xsi:type="dcterms:W3CDTF">2026-04-16T21:43:19Z</dcterms:created>
  <dcterms:modified xsi:type="dcterms:W3CDTF">2026-04-24T20:25:19Z</dcterms:modified>
</cp:coreProperties>
</file>